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258" r:id="rId3"/>
    <p:sldId id="377" r:id="rId4"/>
    <p:sldId id="391" r:id="rId5"/>
    <p:sldId id="392" r:id="rId6"/>
    <p:sldId id="393" r:id="rId7"/>
    <p:sldId id="394" r:id="rId8"/>
    <p:sldId id="395" r:id="rId9"/>
    <p:sldId id="396" r:id="rId10"/>
    <p:sldId id="398" r:id="rId11"/>
    <p:sldId id="399" r:id="rId12"/>
    <p:sldId id="400" r:id="rId13"/>
    <p:sldId id="397" r:id="rId14"/>
    <p:sldId id="374"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p:scale>
          <a:sx n="101" d="100"/>
          <a:sy n="101" d="100"/>
        </p:scale>
        <p:origin x="72" y="43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12</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sz="2800" dirty="0">
                <a:solidFill>
                  <a:schemeClr val="accent1">
                    <a:lumMod val="75000"/>
                  </a:schemeClr>
                </a:solidFill>
              </a:rPr>
              <a:t>Food Surplus Redistribution and Community Hunger Reduction Platform</a:t>
            </a:r>
            <a:br>
              <a:rPr lang="en-US" sz="2800" dirty="0">
                <a:solidFill>
                  <a:schemeClr val="accent1">
                    <a:lumMod val="75000"/>
                  </a:schemeClr>
                </a:solidFill>
              </a:rPr>
            </a:br>
            <a:r>
              <a:rPr lang="en-US" sz="1800" dirty="0">
                <a:solidFill>
                  <a:schemeClr val="accent1">
                    <a:lumMod val="75000"/>
                  </a:schemeClr>
                </a:solidFill>
              </a:rPr>
              <a:t>Connecting Food Donors, NGOs, Volunteers and Beneficiaries Through Intelligent Distribution</a:t>
            </a:r>
            <a:br>
              <a:rPr lang="en-US" sz="1800" b="1" dirty="0">
                <a:solidFill>
                  <a:schemeClr val="accent1">
                    <a:lumMod val="75000"/>
                  </a:schemeClr>
                </a:solidFill>
                <a:latin typeface="+mn-lt"/>
                <a:cs typeface="Arial" panose="020B0604020202020204" pitchFamily="34" charset="0"/>
              </a:rPr>
            </a:br>
            <a:endParaRPr lang="en-US" sz="1800" b="1" dirty="0">
              <a:solidFill>
                <a:schemeClr val="accent1">
                  <a:lumMod val="75000"/>
                </a:schemeClr>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 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Assistant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069054078"/>
              </p:ext>
            </p:extLst>
          </p:nvPr>
        </p:nvGraphicFramePr>
        <p:xfrm>
          <a:off x="1913641" y="1696202"/>
          <a:ext cx="8246359" cy="1097280"/>
        </p:xfrm>
        <a:graphic>
          <a:graphicData uri="http://schemas.openxmlformats.org/drawingml/2006/table">
            <a:tbl>
              <a:tblPr firstRow="1" bandRow="1">
                <a:tableStyleId>{5940675A-B579-460E-94D1-54222C63F5DA}</a:tableStyleId>
              </a:tblPr>
              <a:tblGrid>
                <a:gridCol w="3596541">
                  <a:extLst>
                    <a:ext uri="{9D8B030D-6E8A-4147-A177-3AD203B41FA5}">
                      <a16:colId xmlns:a16="http://schemas.microsoft.com/office/drawing/2014/main" val="2649491121"/>
                    </a:ext>
                  </a:extLst>
                </a:gridCol>
                <a:gridCol w="4649818">
                  <a:extLst>
                    <a:ext uri="{9D8B030D-6E8A-4147-A177-3AD203B41FA5}">
                      <a16:colId xmlns:a16="http://schemas.microsoft.com/office/drawing/2014/main" val="1478369533"/>
                    </a:ext>
                  </a:extLst>
                </a:gridCol>
              </a:tblGrid>
              <a:tr h="296423">
                <a:tc>
                  <a:txBody>
                    <a:bodyPr/>
                    <a:lstStyle/>
                    <a:p>
                      <a:pPr algn="l" fontAlgn="b">
                        <a:buNone/>
                      </a:pPr>
                      <a:r>
                        <a:rPr lang="en-IN" sz="1600" b="0" i="0" u="none" strike="noStrike" dirty="0">
                          <a:solidFill>
                            <a:srgbClr val="000000"/>
                          </a:solidFill>
                          <a:effectLst/>
                          <a:latin typeface="Times New Roman" panose="02020603050405020304" pitchFamily="18" charset="0"/>
                        </a:rPr>
                        <a:t>PAILA NAVEEN</a:t>
                      </a:r>
                    </a:p>
                  </a:txBody>
                  <a:tcPr marL="9525" marR="9525" marT="9525" marB="0" anchor="b"/>
                </a:tc>
                <a:tc>
                  <a:txBody>
                    <a:bodyPr/>
                    <a:lstStyle/>
                    <a:p>
                      <a:r>
                        <a:rPr lang="en-US" dirty="0"/>
                        <a:t>2520030518</a:t>
                      </a:r>
                    </a:p>
                  </a:txBody>
                  <a:tcPr/>
                </a:tc>
                <a:extLst>
                  <a:ext uri="{0D108BD9-81ED-4DB2-BD59-A6C34878D82A}">
                    <a16:rowId xmlns:a16="http://schemas.microsoft.com/office/drawing/2014/main" val="2413438055"/>
                  </a:ext>
                </a:extLst>
              </a:tr>
              <a:tr h="296423">
                <a:tc>
                  <a:txBody>
                    <a:bodyPr/>
                    <a:lstStyle/>
                    <a:p>
                      <a:pPr algn="l" fontAlgn="b">
                        <a:buNone/>
                      </a:pPr>
                      <a:r>
                        <a:rPr lang="en-IN" sz="1600" b="0" i="0" u="none" strike="noStrike" dirty="0">
                          <a:solidFill>
                            <a:srgbClr val="000000"/>
                          </a:solidFill>
                          <a:effectLst/>
                          <a:latin typeface="Times New Roman" panose="02020603050405020304" pitchFamily="18" charset="0"/>
                        </a:rPr>
                        <a:t>KATTA YAMINI SAI</a:t>
                      </a:r>
                    </a:p>
                  </a:txBody>
                  <a:tcPr marL="9525" marR="9525" marT="9525" marB="0" anchor="b"/>
                </a:tc>
                <a:tc>
                  <a:txBody>
                    <a:bodyPr/>
                    <a:lstStyle/>
                    <a:p>
                      <a:r>
                        <a:rPr lang="en-US" dirty="0"/>
                        <a:t>2520030380</a:t>
                      </a:r>
                    </a:p>
                  </a:txBody>
                  <a:tcPr/>
                </a:tc>
                <a:extLst>
                  <a:ext uri="{0D108BD9-81ED-4DB2-BD59-A6C34878D82A}">
                    <a16:rowId xmlns:a16="http://schemas.microsoft.com/office/drawing/2014/main" val="2584183484"/>
                  </a:ext>
                </a:extLst>
              </a:tr>
              <a:tr h="296423">
                <a:tc>
                  <a:txBody>
                    <a:bodyPr/>
                    <a:lstStyle/>
                    <a:p>
                      <a:pPr algn="l" fontAlgn="b">
                        <a:buNone/>
                      </a:pPr>
                      <a:r>
                        <a:rPr lang="en-IN" sz="1600" b="0" i="0" u="none" strike="noStrike" dirty="0">
                          <a:solidFill>
                            <a:srgbClr val="000000"/>
                          </a:solidFill>
                          <a:effectLst/>
                          <a:latin typeface="Times New Roman" panose="02020603050405020304" pitchFamily="18" charset="0"/>
                        </a:rPr>
                        <a:t>KODURU REVANTH</a:t>
                      </a:r>
                    </a:p>
                  </a:txBody>
                  <a:tcPr marL="9525" marR="9525" marT="9525" marB="0" anchor="b"/>
                </a:tc>
                <a:tc>
                  <a:txBody>
                    <a:bodyPr/>
                    <a:lstStyle/>
                    <a:p>
                      <a:r>
                        <a:rPr lang="en-US" dirty="0"/>
                        <a:t>2520030545</a:t>
                      </a:r>
                    </a:p>
                  </a:txBody>
                  <a:tcPr/>
                </a:tc>
                <a:extLst>
                  <a:ext uri="{0D108BD9-81ED-4DB2-BD59-A6C34878D82A}">
                    <a16:rowId xmlns:a16="http://schemas.microsoft.com/office/drawing/2014/main" val="25351817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NUMBER:18</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604415005"/>
              </p:ext>
            </p:extLst>
          </p:nvPr>
        </p:nvGraphicFramePr>
        <p:xfrm>
          <a:off x="809625" y="1416193"/>
          <a:ext cx="10544174" cy="5067127"/>
        </p:xfrm>
        <a:graphic>
          <a:graphicData uri="http://schemas.openxmlformats.org/drawingml/2006/table">
            <a:tbl>
              <a:tblPr firstRow="1" bandRow="1">
                <a:tableStyleId>{5A111915-BE36-4E01-A7E5-04B1672EAD32}</a:tableStyleId>
              </a:tblPr>
              <a:tblGrid>
                <a:gridCol w="5248101">
                  <a:extLst>
                    <a:ext uri="{9D8B030D-6E8A-4147-A177-3AD203B41FA5}">
                      <a16:colId xmlns:a16="http://schemas.microsoft.com/office/drawing/2014/main" val="446563831"/>
                    </a:ext>
                  </a:extLst>
                </a:gridCol>
                <a:gridCol w="5296073">
                  <a:extLst>
                    <a:ext uri="{9D8B030D-6E8A-4147-A177-3AD203B41FA5}">
                      <a16:colId xmlns:a16="http://schemas.microsoft.com/office/drawing/2014/main" val="4175382372"/>
                    </a:ext>
                  </a:extLst>
                </a:gridCol>
              </a:tblGrid>
              <a:tr h="918691">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1382812">
                <a:tc>
                  <a:txBody>
                    <a:bodyPr/>
                    <a:lstStyle/>
                    <a:p>
                      <a:r>
                        <a:rPr lang="en-IN" sz="2400" dirty="0"/>
                        <a:t>                           PAILA NAVEEN</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             ER Diagram &amp; System Architecture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1382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                          </a:t>
                      </a:r>
                      <a:r>
                        <a:rPr lang="en-IN" sz="2400" dirty="0"/>
                        <a:t>KATTA YAMINI SAI</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          </a:t>
                      </a:r>
                      <a:r>
                        <a:rPr lang="en-IN" sz="2000" dirty="0"/>
                        <a:t>Documentation, Queries &amp; Presentation</a:t>
                      </a:r>
                      <a:endParaRPr lang="en-US" sz="2000"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1382812">
                <a:tc>
                  <a:txBody>
                    <a:bodyPr/>
                    <a:lstStyle/>
                    <a:p>
                      <a:r>
                        <a:rPr lang="en-IN" sz="2400" dirty="0"/>
                        <a:t>                         KODURU REVANTH</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         Database Design &amp; SQL Development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Food wastage is a major social and environmental problem. Large amounts of edible food are wasted while many people face food shortages. Our platform connects food donors, NGOs, volunteers and beneficiaries.</a:t>
            </a:r>
          </a:p>
          <a:p>
            <a:pPr marL="0" indent="0">
              <a:buNone/>
            </a:pPr>
            <a:r>
              <a:rPr lang="en-US" sz="2000" dirty="0">
                <a:latin typeface="Times New Roman" panose="02020603050405020304" pitchFamily="18" charset="0"/>
                <a:cs typeface="Times New Roman" panose="02020603050405020304" pitchFamily="18" charset="0"/>
              </a:rPr>
              <a:t>Donors can provide food type, quantity, location and availability details. NGOs and volunteers can identify suitable donations and coordinate collection. The system maintains organized records of donations, pickups and distributions. The main goal is to reduce food wastage and improve timely food redistribution.</a:t>
            </a:r>
          </a:p>
          <a:p>
            <a:pPr marL="0" indent="0">
              <a:buNone/>
            </a:pP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INTRODUCTION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85000" lnSpcReduction="20000"/>
          </a:bodyPr>
          <a:lstStyle/>
          <a:p>
            <a:r>
              <a:rPr lang="en-US" sz="2400" dirty="0">
                <a:latin typeface="Bahnschrift Light SemiCondensed" panose="020B0502040204020203" pitchFamily="34" charset="0"/>
              </a:rPr>
              <a:t>Food surplus is generated by </a:t>
            </a:r>
            <a:r>
              <a:rPr lang="en-US" sz="2400" dirty="0" b="1">
                <a:latin typeface="Bahnschrift Light SemiCondensed" panose="020B0502040204020203" pitchFamily="34" charset="0"/>
              </a:rPr>
              <a:t>restaurants, hotels, events, supermarkets and households</a:t>
            </a:r>
            <a:r>
              <a:rPr lang="en-US" sz="2400" dirty="0">
                <a:latin typeface="Bahnschrift Light SemiCondensed" panose="020B0502040204020203" pitchFamily="34" charset="0"/>
              </a:rPr>
              <a:t>.</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A significant amount of edible food is wasted because of </a:t>
            </a:r>
            <a:r>
              <a:rPr lang="en-US" sz="2400" dirty="0" b="1">
                <a:latin typeface="Bahnschrift Light SemiCondensed" panose="020B0502040204020203" pitchFamily="34" charset="0"/>
              </a:rPr>
              <a:t>poor coordination</a:t>
            </a:r>
            <a:r>
              <a:rPr lang="en-US" sz="2400" dirty="0">
                <a:latin typeface="Bahnschrift Light SemiCondensed" panose="020B0502040204020203" pitchFamily="34" charset="0"/>
              </a:rPr>
              <a:t>.</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At the same time, many communities need </a:t>
            </a:r>
            <a:r>
              <a:rPr lang="en-US" sz="2400" dirty="0" b="1">
                <a:latin typeface="Bahnschrift Light SemiCondensed" panose="020B0502040204020203" pitchFamily="34" charset="0"/>
              </a:rPr>
              <a:t>food assistance</a:t>
            </a:r>
            <a:r>
              <a:rPr lang="en-US" sz="2400" dirty="0">
                <a:latin typeface="Bahnschrift Light SemiCondensed" panose="020B0502040204020203" pitchFamily="34" charset="0"/>
              </a:rPr>
              <a:t>.</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Our system provides a </a:t>
            </a:r>
            <a:r>
              <a:rPr lang="en-US" sz="2400" dirty="0" b="1">
                <a:latin typeface="Bahnschrift Light SemiCondensed" panose="020B0502040204020203" pitchFamily="34" charset="0"/>
              </a:rPr>
              <a:t>centralized platform</a:t>
            </a:r>
            <a:r>
              <a:rPr lang="en-US" sz="2400" dirty="0">
                <a:latin typeface="Bahnschrift Light SemiCondensed" panose="020B0502040204020203" pitchFamily="34" charset="0"/>
              </a:rPr>
              <a:t> for managing surplus food.</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It maintains records of </a:t>
            </a:r>
            <a:r>
              <a:rPr lang="en-US" sz="2400" dirty="0" b="1">
                <a:latin typeface="Bahnschrift Light SemiCondensed" panose="020B0502040204020203" pitchFamily="34" charset="0"/>
              </a:rPr>
              <a:t>donors, donations, NGOs, volunteers, pickups and beneficiaries</a:t>
            </a:r>
            <a:r>
              <a:rPr lang="en-US" sz="2400" dirty="0">
                <a:latin typeface="Bahnschrift Light SemiCondensed" panose="020B0502040204020203" pitchFamily="34" charset="0"/>
              </a:rPr>
              <a:t>.</a:t>
            </a:r>
          </a:p>
          <a:p>
            <a:endParaRPr lang="en-US" sz="2400" dirty="0">
              <a:latin typeface="Bahnschrift Light SemiCondensed" panose="020B0502040204020203" pitchFamily="34" charset="0"/>
            </a:endParaRPr>
          </a:p>
          <a:p>
            <a:r>
              <a:rPr lang="en-US" sz="2400" dirty="0">
                <a:latin typeface="Bahnschrift Light SemiCondensed" panose="020B0502040204020203" pitchFamily="34" charset="0"/>
              </a:rPr>
              <a:t>The complete process can be tracked from </a:t>
            </a:r>
            <a:r>
              <a:rPr lang="en-US" sz="2400" dirty="0" b="1">
                <a:latin typeface="Bahnschrift Light SemiCondensed" panose="020B0502040204020203" pitchFamily="34" charset="0"/>
              </a:rPr>
              <a:t>donation → pickup → NGO → beneficiary</a:t>
            </a:r>
            <a:r>
              <a:rPr lang="en-US" sz="2400" dirty="0">
                <a:latin typeface="Bahnschrift Light SemiCondensed" panose="020B0502040204020203" pitchFamily="34" charset="0"/>
              </a:rPr>
              <a:t>.</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Autofit/>
          </a:bodyPr>
          <a:lstStyle/>
          <a:p>
            <a:r>
              <a:rPr lang="en-US" sz="2000" dirty="0">
                <a:latin typeface="Bahnschrift Light SemiCondensed" panose="020B0502040204020203" pitchFamily="34" charset="0"/>
              </a:rPr>
              <a:t>Surplus food redistribution is mainly handled through </a:t>
            </a:r>
            <a:r>
              <a:rPr lang="en-US" sz="2000" dirty="0" b="1">
                <a:latin typeface="Bahnschrift Light SemiCondensed" panose="020B0502040204020203" pitchFamily="34" charset="0"/>
              </a:rPr>
              <a:t>manual communication</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Donors contact NGOs using </a:t>
            </a:r>
            <a:r>
              <a:rPr lang="en-US" sz="2000" dirty="0" b="1">
                <a:latin typeface="Bahnschrift Light SemiCondensed" panose="020B0502040204020203" pitchFamily="34" charset="0"/>
              </a:rPr>
              <a:t>phone calls, messages or social media</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Donation details may be stored in </a:t>
            </a:r>
            <a:r>
              <a:rPr lang="en-US" sz="2000" dirty="0" b="1">
                <a:latin typeface="Bahnschrift Light SemiCondensed" panose="020B0502040204020203" pitchFamily="34" charset="0"/>
              </a:rPr>
              <a:t>paper records, spreadsheets or separate files</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There is no centralized system to track </a:t>
            </a:r>
            <a:r>
              <a:rPr lang="en-US" sz="2000" dirty="0" b="1">
                <a:latin typeface="Bahnschrift Light SemiCondensed" panose="020B0502040204020203" pitchFamily="34" charset="0"/>
              </a:rPr>
              <a:t>food availability, quantity, pickup status and distribution status</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Manual coordination can cause </a:t>
            </a:r>
            <a:r>
              <a:rPr lang="en-US" sz="2000" dirty="0" b="1">
                <a:latin typeface="Bahnschrift Light SemiCondensed" panose="020B0502040204020203" pitchFamily="34" charset="0"/>
              </a:rPr>
              <a:t>delays, duplication and errors</a:t>
            </a:r>
            <a:r>
              <a:rPr lang="en-US" sz="2000" dirty="0">
                <a:latin typeface="Bahnschrift Light SemiCondensed" panose="020B0502040204020203" pitchFamily="34" charset="0"/>
              </a:rPr>
              <a:t>.</a:t>
            </a:r>
          </a:p>
          <a:p>
            <a:r>
              <a:rPr lang="en-US" sz="2000" dirty="0" b="1">
                <a:latin typeface="Bahnschrift Light SemiCondensed" panose="020B0502040204020203" pitchFamily="34" charset="0"/>
              </a:rPr>
              <a:t>End-to-end tracking</a:t>
            </a:r>
            <a:r>
              <a:rPr lang="en-US" sz="2000" dirty="0">
                <a:latin typeface="Bahnschrift Light SemiCondensed" panose="020B0502040204020203" pitchFamily="34" charset="0"/>
              </a:rPr>
              <a:t> of donated food is difficult.</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 STATEMENT</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r>
              <a:rPr lang="en-US" sz="2000" dirty="0">
                <a:latin typeface="Bahnschrift Light SemiCondensed" panose="020B0502040204020203" pitchFamily="34" charset="0"/>
              </a:rPr>
              <a:t>Large quantities of </a:t>
            </a:r>
            <a:r>
              <a:rPr lang="en-US" sz="2000" dirty="0" b="1">
                <a:latin typeface="Bahnschrift Light SemiCondensed" panose="020B0502040204020203" pitchFamily="34" charset="0"/>
              </a:rPr>
              <a:t>edible food are wasted</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Many people and communities face </a:t>
            </a:r>
            <a:r>
              <a:rPr lang="en-US" sz="2000" dirty="0" b="1">
                <a:latin typeface="Bahnschrift Light SemiCondensed" panose="020B0502040204020203" pitchFamily="34" charset="0"/>
              </a:rPr>
              <a:t>food shortages</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There is no </a:t>
            </a:r>
            <a:r>
              <a:rPr lang="en-US" sz="2000" dirty="0" b="1">
                <a:latin typeface="Bahnschrift Light SemiCondensed" panose="020B0502040204020203" pitchFamily="34" charset="0"/>
              </a:rPr>
              <a:t>centralized platform</a:t>
            </a:r>
            <a:r>
              <a:rPr lang="en-US" sz="2000" dirty="0">
                <a:latin typeface="Bahnschrift Light SemiCondensed" panose="020B0502040204020203" pitchFamily="34" charset="0"/>
              </a:rPr>
              <a:t> connecting donors, NGOs and volunteers efficiently.</a:t>
            </a:r>
          </a:p>
          <a:p>
            <a:r>
              <a:rPr lang="en-US" sz="2000" dirty="0">
                <a:latin typeface="Bahnschrift Light SemiCondensed" panose="020B0502040204020203" pitchFamily="34" charset="0"/>
              </a:rPr>
              <a:t>Manual management can cause </a:t>
            </a:r>
            <a:r>
              <a:rPr lang="en-US" sz="2000" dirty="0" b="1">
                <a:latin typeface="Bahnschrift Light SemiCondensed" panose="020B0502040204020203" pitchFamily="34" charset="0"/>
              </a:rPr>
              <a:t>delays and incorrect records</a:t>
            </a:r>
            <a:r>
              <a:rPr lang="en-US" sz="2000" dirty="0">
                <a:latin typeface="Bahnschrift Light SemiCondensed" panose="020B0502040204020203" pitchFamily="34" charset="0"/>
              </a:rPr>
              <a:t>.</a:t>
            </a:r>
          </a:p>
          <a:p>
            <a:r>
              <a:rPr lang="en-US" sz="2000" dirty="0" b="1">
                <a:latin typeface="Bahnschrift Light SemiCondensed" panose="020B0502040204020203" pitchFamily="34" charset="0"/>
              </a:rPr>
              <a:t>Perishable food</a:t>
            </a:r>
            <a:r>
              <a:rPr lang="en-US" sz="2000" dirty="0">
                <a:latin typeface="Bahnschrift Light SemiCondensed" panose="020B0502040204020203" pitchFamily="34" charset="0"/>
              </a:rPr>
              <a:t> has a limited safe-consumption window.</a:t>
            </a:r>
          </a:p>
          <a:p>
            <a:r>
              <a:rPr lang="en-US" sz="2000" dirty="0">
                <a:latin typeface="Bahnschrift Light SemiCondensed" panose="020B0502040204020203" pitchFamily="34" charset="0"/>
              </a:rPr>
              <a:t>It is difficult to </a:t>
            </a:r>
            <a:r>
              <a:rPr lang="en-US" sz="2000" dirty="0" b="1">
                <a:latin typeface="Bahnschrift Light SemiCondensed" panose="020B0502040204020203" pitchFamily="34" charset="0"/>
              </a:rPr>
              <a:t>track food from collection to final distribution</a:t>
            </a:r>
            <a:r>
              <a:rPr lang="en-US" sz="2000" dirty="0">
                <a:latin typeface="Bahnschrift Light SemiCondensed" panose="020B0502040204020203" pitchFamily="34" charset="0"/>
              </a:rPr>
              <a:t>.</a:t>
            </a:r>
          </a:p>
          <a:p>
            <a:r>
              <a:rPr lang="en-US" sz="2000" dirty="0">
                <a:latin typeface="Bahnschrift Light SemiCondensed" panose="020B0502040204020203" pitchFamily="34" charset="0"/>
              </a:rPr>
              <a:t>Therefore, a </a:t>
            </a:r>
            <a:r>
              <a:rPr lang="en-US" sz="2000" dirty="0" b="1">
                <a:latin typeface="Bahnschrift Light SemiCondensed" panose="020B0502040204020203" pitchFamily="34" charset="0"/>
              </a:rPr>
              <a:t>centralized system</a:t>
            </a:r>
            <a:r>
              <a:rPr lang="en-US" sz="2000" dirty="0">
                <a:latin typeface="Bahnschrift Light SemiCondensed" panose="020B0502040204020203" pitchFamily="34" charset="0"/>
              </a:rPr>
              <a:t> is required to manage the complete redistribution process efficiently.</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PROPOSED SOLUTION / 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dirty="0"/>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r>
              <a:rPr lang="en-US" sz="2000" dirty="0">
                <a:latin typeface="Bahnschrift Light" panose="020B0502040204020203" pitchFamily="34" charset="0"/>
              </a:rPr>
              <a:t>Develop a </a:t>
            </a:r>
            <a:r>
              <a:rPr lang="en-US" sz="2000" dirty="0" b="1">
                <a:latin typeface="Bahnschrift Light" panose="020B0502040204020203" pitchFamily="34" charset="0"/>
              </a:rPr>
              <a:t>centralized Food Surplus Redistribution Platform</a:t>
            </a:r>
            <a:r>
              <a:rPr lang="en-US" sz="2000" dirty="0">
                <a:latin typeface="Bahnschrift Light" panose="020B0502040204020203" pitchFamily="34" charset="0"/>
              </a:rPr>
              <a:t>.</a:t>
            </a:r>
          </a:p>
          <a:p>
            <a:r>
              <a:rPr lang="en-US" sz="2000" dirty="0">
                <a:latin typeface="Bahnschrift Light" panose="020B0502040204020203" pitchFamily="34" charset="0"/>
              </a:rPr>
              <a:t>Connect </a:t>
            </a:r>
            <a:r>
              <a:rPr lang="en-US" sz="2000" dirty="0" b="1">
                <a:latin typeface="Bahnschrift Light" panose="020B0502040204020203" pitchFamily="34" charset="0"/>
              </a:rPr>
              <a:t>donors, NGOs, volunteers and beneficiaries</a:t>
            </a:r>
            <a:r>
              <a:rPr lang="en-US" sz="2000" dirty="0">
                <a:latin typeface="Bahnschrift Light" panose="020B0502040204020203" pitchFamily="34" charset="0"/>
              </a:rPr>
              <a:t> through one platform.</a:t>
            </a:r>
          </a:p>
          <a:p>
            <a:r>
              <a:rPr lang="en-US" sz="2000" dirty="0">
                <a:latin typeface="Bahnschrift Light" panose="020B0502040204020203" pitchFamily="34" charset="0"/>
              </a:rPr>
              <a:t>Maintain records of </a:t>
            </a:r>
            <a:r>
              <a:rPr lang="en-US" sz="2000" dirty="0" b="1">
                <a:latin typeface="Bahnschrift Light" panose="020B0502040204020203" pitchFamily="34" charset="0"/>
              </a:rPr>
              <a:t>food donations, quantity, location, preparation and expiry information, pickups and deliveries</a:t>
            </a:r>
            <a:r>
              <a:rPr lang="en-US" sz="2000" dirty="0">
                <a:latin typeface="Bahnschrift Light" panose="020B0502040204020203" pitchFamily="34" charset="0"/>
              </a:rPr>
              <a:t>.</a:t>
            </a:r>
          </a:p>
          <a:p>
            <a:r>
              <a:rPr lang="en-US" sz="2000" dirty="0">
                <a:latin typeface="Bahnschrift Light" panose="020B0502040204020203" pitchFamily="34" charset="0"/>
              </a:rPr>
              <a:t>Allow </a:t>
            </a:r>
            <a:r>
              <a:rPr lang="en-US" sz="2000" dirty="0" b="1">
                <a:latin typeface="Bahnschrift Light" panose="020B0502040204020203" pitchFamily="34" charset="0"/>
              </a:rPr>
              <a:t>NGOs to submit food requests</a:t>
            </a:r>
            <a:r>
              <a:rPr lang="en-US" sz="2000" dirty="0">
                <a:latin typeface="Bahnschrift Light" panose="020B0502040204020203" pitchFamily="34" charset="0"/>
              </a:rPr>
              <a:t>.</a:t>
            </a:r>
          </a:p>
          <a:p>
            <a:r>
              <a:rPr lang="en-US" sz="2000" dirty="0" b="1">
                <a:latin typeface="Bahnschrift Light" panose="020B0502040204020203" pitchFamily="34" charset="0"/>
              </a:rPr>
              <a:t>Match</a:t>
            </a:r>
            <a:r>
              <a:rPr lang="en-US" sz="2000" dirty="0">
                <a:latin typeface="Bahnschrift Light" panose="020B0502040204020203" pitchFamily="34" charset="0"/>
              </a:rPr>
              <a:t> available donations with suitable NGO requirements.</a:t>
            </a:r>
          </a:p>
          <a:p>
            <a:r>
              <a:rPr lang="en-US" sz="2000" dirty="0" b="1">
                <a:latin typeface="Bahnschrift Light" panose="020B0502040204020203" pitchFamily="34" charset="0"/>
              </a:rPr>
              <a:t>Track</a:t>
            </a:r>
            <a:r>
              <a:rPr lang="en-US" sz="2000" dirty="0">
                <a:latin typeface="Bahnschrift Light" panose="020B0502040204020203" pitchFamily="34" charset="0"/>
              </a:rPr>
              <a:t> collection and distribution.</a:t>
            </a:r>
          </a:p>
          <a:p>
            <a:r>
              <a:rPr lang="en-US" sz="2000" dirty="0">
                <a:latin typeface="Bahnschrift Light" panose="020B0502040204020203" pitchFamily="34" charset="0"/>
              </a:rPr>
              <a:t>Generate </a:t>
            </a:r>
            <a:r>
              <a:rPr lang="en-US" sz="2000" dirty="0" b="1">
                <a:latin typeface="Bahnschrift Light" panose="020B0502040204020203" pitchFamily="34" charset="0"/>
              </a:rPr>
              <a:t>reports and statistics</a:t>
            </a:r>
            <a:r>
              <a:rPr lang="en-US" sz="2000" dirty="0">
                <a:latin typeface="Bahnschrift Light" panose="020B0502040204020203" pitchFamily="34" charset="0"/>
              </a:rPr>
              <a:t> using database operations.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838200" y="1543050"/>
            <a:ext cx="10515600" cy="4633913"/>
          </a:xfrm>
        </p:spPr>
        <p:txBody>
          <a:bodyPr>
            <a:normAutofit/>
          </a:bodyPr>
          <a:lstStyle/>
          <a:p>
            <a:r>
              <a:rPr lang="en-US" sz="2000" dirty="0">
                <a:latin typeface="Bahnschrift Light" panose="020B0502040204020203" pitchFamily="34" charset="0"/>
              </a:rPr>
              <a:t>To </a:t>
            </a:r>
            <a:r>
              <a:rPr lang="en-US" sz="2000" dirty="0" b="1">
                <a:latin typeface="Bahnschrift Light" panose="020B0502040204020203" pitchFamily="34" charset="0"/>
              </a:rPr>
              <a:t>reduce food wastage</a:t>
            </a:r>
            <a:r>
              <a:rPr lang="en-US" sz="2000" dirty="0">
                <a:latin typeface="Bahnschrift Light" panose="020B0502040204020203" pitchFamily="34" charset="0"/>
              </a:rPr>
              <a:t> by redistributing surplus food within its safe-consumption window.</a:t>
            </a:r>
          </a:p>
          <a:p>
            <a:r>
              <a:rPr lang="en-US" sz="2000" dirty="0">
                <a:latin typeface="Bahnschrift Light" panose="020B0502040204020203" pitchFamily="34" charset="0"/>
              </a:rPr>
              <a:t>To create a </a:t>
            </a:r>
            <a:r>
              <a:rPr lang="en-US" sz="2000" dirty="0" b="1">
                <a:latin typeface="Bahnschrift Light" panose="020B0502040204020203" pitchFamily="34" charset="0"/>
              </a:rPr>
              <a:t>centralized and normalized database</a:t>
            </a:r>
            <a:r>
              <a:rPr lang="en-US" sz="2000" dirty="0">
                <a:latin typeface="Bahnschrift Light" panose="020B0502040204020203" pitchFamily="34" charset="0"/>
              </a:rPr>
              <a:t> for donations, inventory, pickups and distributions.</a:t>
            </a:r>
          </a:p>
          <a:p>
            <a:r>
              <a:rPr lang="en-US" sz="2000" dirty="0">
                <a:latin typeface="Bahnschrift Light" panose="020B0502040204020203" pitchFamily="34" charset="0"/>
              </a:rPr>
              <a:t>To connect </a:t>
            </a:r>
            <a:r>
              <a:rPr lang="en-US" sz="2000" dirty="0" b="1">
                <a:latin typeface="Bahnschrift Light" panose="020B0502040204020203" pitchFamily="34" charset="0"/>
              </a:rPr>
              <a:t>donors, NGOs, volunteers and beneficiaries</a:t>
            </a:r>
            <a:r>
              <a:rPr lang="en-US" sz="2000" dirty="0">
                <a:latin typeface="Bahnschrift Light" panose="020B0502040204020203" pitchFamily="34" charset="0"/>
              </a:rPr>
              <a:t> through a role-based platform.</a:t>
            </a:r>
          </a:p>
          <a:p>
            <a:r>
              <a:rPr lang="en-US" sz="2000" dirty="0">
                <a:latin typeface="Bahnschrift Light" panose="020B0502040204020203" pitchFamily="34" charset="0"/>
              </a:rPr>
              <a:t>To maintain accurate records of </a:t>
            </a:r>
            <a:r>
              <a:rPr lang="en-US" sz="2000" dirty="0" b="1">
                <a:latin typeface="Bahnschrift Light" panose="020B0502040204020203" pitchFamily="34" charset="0"/>
              </a:rPr>
              <a:t>food quantity, category, expiry and availability</a:t>
            </a:r>
            <a:r>
              <a:rPr lang="en-US" sz="2000" dirty="0">
                <a:latin typeface="Bahnschrift Light" panose="020B0502040204020203" pitchFamily="34" charset="0"/>
              </a:rPr>
              <a:t>.</a:t>
            </a:r>
          </a:p>
          <a:p>
            <a:r>
              <a:rPr lang="en-US" sz="2000" dirty="0">
                <a:latin typeface="Bahnschrift Light" panose="020B0502040204020203" pitchFamily="34" charset="0"/>
              </a:rPr>
              <a:t>To efficiently manage </a:t>
            </a:r>
            <a:r>
              <a:rPr lang="en-US" sz="2000" dirty="0" b="1">
                <a:latin typeface="Bahnschrift Light" panose="020B0502040204020203" pitchFamily="34" charset="0"/>
              </a:rPr>
              <a:t>pickup and delivery</a:t>
            </a:r>
            <a:r>
              <a:rPr lang="en-US" sz="2000" dirty="0">
                <a:latin typeface="Bahnschrift Light" panose="020B0502040204020203" pitchFamily="34" charset="0"/>
              </a:rPr>
              <a:t>.</a:t>
            </a:r>
          </a:p>
          <a:p>
            <a:r>
              <a:rPr lang="en-US" sz="2000" dirty="0">
                <a:latin typeface="Bahnschrift Light" panose="020B0502040204020203" pitchFamily="34" charset="0"/>
              </a:rPr>
              <a:t>To track the </a:t>
            </a:r>
            <a:r>
              <a:rPr lang="en-US" sz="2000" dirty="0" b="1">
                <a:latin typeface="Bahnschrift Light" panose="020B0502040204020203" pitchFamily="34" charset="0"/>
              </a:rPr>
              <a:t>complete donation and distribution journey</a:t>
            </a:r>
            <a:r>
              <a:rPr lang="en-US" sz="2000" dirty="0">
                <a:latin typeface="Bahnschrift Light" panose="020B0502040204020203" pitchFamily="34" charset="0"/>
              </a:rPr>
              <a:t>.</a:t>
            </a:r>
          </a:p>
          <a:p>
            <a:r>
              <a:rPr lang="en-US" sz="2000" dirty="0">
                <a:latin typeface="Bahnschrift Light" panose="020B0502040204020203" pitchFamily="34" charset="0"/>
              </a:rPr>
              <a:t>To generate </a:t>
            </a:r>
            <a:r>
              <a:rPr lang="en-US" sz="2000" dirty="0" b="1">
                <a:latin typeface="Bahnschrift Light" panose="020B0502040204020203" pitchFamily="34" charset="0"/>
              </a:rPr>
              <a:t>reports and statistics</a:t>
            </a:r>
            <a:r>
              <a:rPr lang="en-US" sz="2000" dirty="0">
                <a:latin typeface="Bahnschrift Light" panose="020B0502040204020203" pitchFamily="34" charset="0"/>
              </a:rPr>
              <a:t> using SQL.</a:t>
            </a:r>
          </a:p>
          <a:p>
            <a:r>
              <a:rPr lang="en-US" sz="2000" dirty="0">
                <a:latin typeface="Bahnschrift Light" panose="020B0502040204020203" pitchFamily="34" charset="0"/>
              </a:rPr>
              <a:t>To improve the </a:t>
            </a:r>
            <a:r>
              <a:rPr lang="en-US" sz="2000" dirty="0" b="1">
                <a:latin typeface="Bahnschrift Light" panose="020B0502040204020203" pitchFamily="34" charset="0"/>
              </a:rPr>
              <a:t>efficiency, transparency and traceability</a:t>
            </a:r>
            <a:r>
              <a:rPr lang="en-US" sz="2000" dirty="0">
                <a:latin typeface="Bahnschrift Light" panose="020B0502040204020203" pitchFamily="34" charset="0"/>
              </a:rPr>
              <a:t> of food redistribution.</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SYSTEM 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3" name="Rectangle 1">
            <a:extLst>
              <a:ext uri="{FF2B5EF4-FFF2-40B4-BE49-F238E27FC236}">
                <a16:creationId xmlns:a16="http://schemas.microsoft.com/office/drawing/2014/main" id="{FC0FB235-DA76-2C60-80E3-40A1C3A35159}"/>
              </a:ext>
            </a:extLst>
          </p:cNvPr>
          <p:cNvSpPr>
            <a:spLocks noGrp="1" noChangeArrowheads="1"/>
          </p:cNvSpPr>
          <p:nvPr>
            <p:ph idx="1"/>
          </p:nvPr>
        </p:nvSpPr>
        <p:spPr bwMode="auto">
          <a:xfrm>
            <a:off x="838200" y="1565244"/>
            <a:ext cx="9620250" cy="487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dirty="0" b="1"/>
              <a:t>1. User Authentication &amp; Management</a:t>
            </a:r>
          </a:p>
          <a:p>
            <a:r>
              <a:rPr lang="en-IN" sz="1800" dirty="0"/>
              <a:t>Registration and login</a:t>
            </a:r>
          </a:p>
          <a:p>
            <a:r>
              <a:rPr lang="en-IN" sz="1800" dirty="0"/>
              <a:t>Role-based access</a:t>
            </a:r>
          </a:p>
          <a:p>
            <a:r>
              <a:rPr lang="en-IN" sz="1800" dirty="0"/>
              <a:t>Profile management</a:t>
            </a:r>
          </a:p>
          <a:p>
            <a:r>
              <a:rPr lang="en-IN" sz="1800" dirty="0"/>
              <a:t>Authentication and authorization</a:t>
            </a:r>
          </a:p>
          <a:p>
            <a:endParaRPr lang="en-IN" sz="1800" dirty="0"/>
          </a:p>
          <a:p>
            <a:r>
              <a:rPr lang="en-IN" sz="1800" dirty="0" b="1"/>
              <a:t>2. Food Donor Management</a:t>
            </a:r>
          </a:p>
          <a:p>
            <a:r>
              <a:rPr lang="en-IN" sz="1800" dirty="0"/>
              <a:t>Donor registration</a:t>
            </a:r>
          </a:p>
          <a:p>
            <a:r>
              <a:rPr lang="en-IN" sz="1800" dirty="0"/>
              <a:t>Food donation details</a:t>
            </a:r>
          </a:p>
          <a:p>
            <a:r>
              <a:rPr lang="en-IN" sz="1800" dirty="0"/>
              <a:t>Food type and quantity</a:t>
            </a:r>
          </a:p>
          <a:p>
            <a:r>
              <a:rPr lang="en-IN" sz="1800" dirty="0"/>
              <a:t>Location and availability</a:t>
            </a:r>
          </a:p>
          <a:p>
            <a:r>
              <a:rPr lang="en-IN" sz="1800" dirty="0"/>
              <a:t>Donation status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E1EB-7E1F-18A1-30E7-A5EF3E65584F}"/>
              </a:ext>
            </a:extLst>
          </p:cNvPr>
          <p:cNvSpPr>
            <a:spLocks noGrp="1"/>
          </p:cNvSpPr>
          <p:nvPr>
            <p:ph type="title"/>
          </p:nvPr>
        </p:nvSpPr>
        <p:spPr>
          <a:xfrm flipV="1">
            <a:off x="14030325" y="-1181101"/>
            <a:ext cx="523874" cy="1177917"/>
          </a:xfrm>
        </p:spPr>
        <p:txBody>
          <a:bodyPr/>
          <a:lstStyle/>
          <a:p>
            <a:endParaRPr lang="en-IN" dirty="0"/>
          </a:p>
        </p:txBody>
      </p:sp>
      <p:sp>
        <p:nvSpPr>
          <p:cNvPr id="3" name="Content Placeholder 2">
            <a:extLst>
              <a:ext uri="{FF2B5EF4-FFF2-40B4-BE49-F238E27FC236}">
                <a16:creationId xmlns:a16="http://schemas.microsoft.com/office/drawing/2014/main" id="{920597B7-ED75-8809-AAFA-B73E53771550}"/>
              </a:ext>
            </a:extLst>
          </p:cNvPr>
          <p:cNvSpPr>
            <a:spLocks noGrp="1"/>
          </p:cNvSpPr>
          <p:nvPr>
            <p:ph idx="1"/>
          </p:nvPr>
        </p:nvSpPr>
        <p:spPr>
          <a:xfrm>
            <a:off x="600075" y="1200935"/>
            <a:ext cx="10515600" cy="5337977"/>
          </a:xfrm>
        </p:spPr>
        <p:txBody>
          <a:bodyPr>
            <a:normAutofit/>
          </a:bodyPr>
          <a:lstStyle/>
          <a:p>
            <a:pPr marL="0" indent="0">
              <a:buNone/>
            </a:pPr>
            <a:r>
              <a:rPr lang="en-IN" sz="2000" dirty="0" b="1">
                <a:latin typeface="Times New Roman" panose="02020603050405020304" pitchFamily="18" charset="0"/>
                <a:cs typeface="Times New Roman" panose="02020603050405020304" pitchFamily="18" charset="0"/>
              </a:rPr>
              <a:t>3. NGO &amp; Volunteer Management</a:t>
            </a:r>
          </a:p>
          <a:p>
            <a:r>
              <a:rPr lang="en-IN" sz="2000" dirty="0">
                <a:latin typeface="Times New Roman" panose="02020603050405020304" pitchFamily="18" charset="0"/>
                <a:cs typeface="Times New Roman" panose="02020603050405020304" pitchFamily="18" charset="0"/>
              </a:rPr>
              <a:t>NGO registration and verification</a:t>
            </a:r>
          </a:p>
          <a:p>
            <a:r>
              <a:rPr lang="en-IN" sz="2000" dirty="0">
                <a:latin typeface="Times New Roman" panose="02020603050405020304" pitchFamily="18" charset="0"/>
                <a:cs typeface="Times New Roman" panose="02020603050405020304" pitchFamily="18" charset="0"/>
              </a:rPr>
              <a:t>Volunteer registration</a:t>
            </a:r>
          </a:p>
          <a:p>
            <a:r>
              <a:rPr lang="en-IN" sz="2000" dirty="0">
                <a:latin typeface="Times New Roman" panose="02020603050405020304" pitchFamily="18" charset="0"/>
                <a:cs typeface="Times New Roman" panose="02020603050405020304" pitchFamily="18" charset="0"/>
              </a:rPr>
              <a:t>Volunteer availability</a:t>
            </a:r>
          </a:p>
          <a:p>
            <a:r>
              <a:rPr lang="en-IN" sz="2000" dirty="0">
                <a:latin typeface="Times New Roman" panose="02020603050405020304" pitchFamily="18" charset="0"/>
                <a:cs typeface="Times New Roman" panose="02020603050405020304" pitchFamily="18" charset="0"/>
              </a:rPr>
              <a:t>Nearby donation identification</a:t>
            </a:r>
          </a:p>
          <a:p>
            <a:r>
              <a:rPr lang="en-IN" sz="2000" dirty="0">
                <a:latin typeface="Times New Roman" panose="02020603050405020304" pitchFamily="18" charset="0"/>
                <a:cs typeface="Times New Roman" panose="02020603050405020304" pitchFamily="18" charset="0"/>
              </a:rPr>
              <a:t>Collection coordination</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dirty="0" b="1">
                <a:latin typeface="Times New Roman" panose="02020603050405020304" pitchFamily="18" charset="0"/>
                <a:cs typeface="Times New Roman" panose="02020603050405020304" pitchFamily="18" charset="0"/>
              </a:rPr>
              <a:t>4. Surplus Food Listing &amp; Management</a:t>
            </a:r>
          </a:p>
          <a:p>
            <a:r>
              <a:rPr lang="en-IN" sz="2000" dirty="0">
                <a:latin typeface="Times New Roman" panose="02020603050405020304" pitchFamily="18" charset="0"/>
                <a:cs typeface="Times New Roman" panose="02020603050405020304" pitchFamily="18" charset="0"/>
              </a:rPr>
              <a:t>Create food listings</a:t>
            </a:r>
          </a:p>
          <a:p>
            <a:r>
              <a:rPr lang="en-IN" sz="2000" dirty="0">
                <a:latin typeface="Times New Roman" panose="02020603050405020304" pitchFamily="18" charset="0"/>
                <a:cs typeface="Times New Roman" panose="02020603050405020304" pitchFamily="18" charset="0"/>
              </a:rPr>
              <a:t>Update/cancel listings</a:t>
            </a:r>
          </a:p>
          <a:p>
            <a:r>
              <a:rPr lang="en-IN" sz="2000" dirty="0">
                <a:latin typeface="Times New Roman" panose="02020603050405020304" pitchFamily="18" charset="0"/>
                <a:cs typeface="Times New Roman" panose="02020603050405020304" pitchFamily="18" charset="0"/>
              </a:rPr>
              <a:t>Availability tracking</a:t>
            </a:r>
          </a:p>
          <a:p>
            <a:r>
              <a:rPr lang="en-IN" sz="2000" dirty="0">
                <a:latin typeface="Times New Roman" panose="02020603050405020304" pitchFamily="18" charset="0"/>
                <a:cs typeface="Times New Roman" panose="02020603050405020304" pitchFamily="18" charset="0"/>
              </a:rPr>
              <a:t>Expiry monitoring</a:t>
            </a:r>
          </a:p>
          <a:p>
            <a:r>
              <a:rPr lang="en-IN" sz="2000" dirty="0">
                <a:latin typeface="Times New Roman" panose="02020603050405020304" pitchFamily="18" charset="0"/>
                <a:cs typeface="Times New Roman" panose="02020603050405020304" pitchFamily="18" charset="0"/>
              </a:rPr>
              <a:t>Donation status management</a:t>
            </a:r>
          </a:p>
        </p:txBody>
      </p:sp>
      <p:sp>
        <p:nvSpPr>
          <p:cNvPr id="4" name="Date Placeholder 3">
            <a:extLst>
              <a:ext uri="{FF2B5EF4-FFF2-40B4-BE49-F238E27FC236}">
                <a16:creationId xmlns:a16="http://schemas.microsoft.com/office/drawing/2014/main" id="{6D4E74EB-A0A7-D585-937D-2850BCC11447}"/>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5039A91A-77CF-8A5D-FAA3-8FAF68EF3E1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256F750A-35A9-C362-1B30-734616339B8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11883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A3F150-BF2D-E8F6-6720-4A4088E02130}"/>
              </a:ext>
            </a:extLst>
          </p:cNvPr>
          <p:cNvSpPr>
            <a:spLocks noGrp="1"/>
          </p:cNvSpPr>
          <p:nvPr>
            <p:ph idx="1"/>
          </p:nvPr>
        </p:nvSpPr>
        <p:spPr>
          <a:xfrm>
            <a:off x="781050" y="1253331"/>
            <a:ext cx="10515600" cy="4947444"/>
          </a:xfrm>
        </p:spPr>
        <p:txBody>
          <a:bodyPr>
            <a:normAutofit fontScale="92500" lnSpcReduction="20000"/>
          </a:bodyPr>
          <a:lstStyle/>
          <a:p>
            <a:pPr marL="0" indent="0">
              <a:buNone/>
            </a:pPr>
            <a:r>
              <a:rPr lang="en-US" sz="2400" dirty="0" b="1">
                <a:latin typeface="Times New Roman" panose="02020603050405020304" pitchFamily="18" charset="0"/>
                <a:cs typeface="Times New Roman" panose="02020603050405020304" pitchFamily="18" charset="0"/>
              </a:rPr>
              <a:t>5. Food Request &amp; Matching</a:t>
            </a:r>
          </a:p>
          <a:p>
            <a:r>
              <a:rPr lang="en-US" sz="2400" dirty="0">
                <a:latin typeface="Times New Roman" panose="02020603050405020304" pitchFamily="18" charset="0"/>
                <a:cs typeface="Times New Roman" panose="02020603050405020304" pitchFamily="18" charset="0"/>
              </a:rPr>
              <a:t>NGO food requests</a:t>
            </a:r>
          </a:p>
          <a:p>
            <a:r>
              <a:rPr lang="en-US" sz="2400" dirty="0">
                <a:latin typeface="Times New Roman" panose="02020603050405020304" pitchFamily="18" charset="0"/>
                <a:cs typeface="Times New Roman" panose="02020603050405020304" pitchFamily="18" charset="0"/>
              </a:rPr>
              <a:t>Donor–NGO matching</a:t>
            </a:r>
          </a:p>
          <a:p>
            <a:r>
              <a:rPr lang="en-US" sz="2400" dirty="0">
                <a:latin typeface="Times New Roman" panose="02020603050405020304" pitchFamily="18" charset="0"/>
                <a:cs typeface="Times New Roman" panose="02020603050405020304" pitchFamily="18" charset="0"/>
              </a:rPr>
              <a:t>Location-based matching</a:t>
            </a:r>
          </a:p>
          <a:p>
            <a:r>
              <a:rPr lang="en-US" sz="2400" dirty="0">
                <a:latin typeface="Times New Roman" panose="02020603050405020304" pitchFamily="18" charset="0"/>
                <a:cs typeface="Times New Roman" panose="02020603050405020304" pitchFamily="18" charset="0"/>
              </a:rPr>
              <a:t>Quantity-based matching</a:t>
            </a:r>
          </a:p>
          <a:p>
            <a:r>
              <a:rPr lang="en-US" sz="2400" dirty="0">
                <a:latin typeface="Times New Roman" panose="02020603050405020304" pitchFamily="18" charset="0"/>
                <a:cs typeface="Times New Roman" panose="02020603050405020304" pitchFamily="18" charset="0"/>
              </a:rPr>
              <a:t>Request status tracking</a:t>
            </a:r>
          </a:p>
          <a:p>
            <a:r>
              <a:rPr lang="en-US" sz="2400" dirty="0">
                <a:latin typeface="Times New Roman" panose="02020603050405020304" pitchFamily="18" charset="0"/>
                <a:cs typeface="Times New Roman" panose="02020603050405020304" pitchFamily="18" charset="0"/>
              </a:rPr>
              <a:t>Semantic similarity-based matching</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b="1">
                <a:latin typeface="Times New Roman" panose="02020603050405020304" pitchFamily="18" charset="0"/>
                <a:cs typeface="Times New Roman" panose="02020603050405020304" pitchFamily="18" charset="0"/>
              </a:rPr>
              <a:t>6. Collection &amp; Distribution</a:t>
            </a:r>
          </a:p>
          <a:p>
            <a:r>
              <a:rPr lang="en-US" sz="2400" dirty="0">
                <a:latin typeface="Times New Roman" panose="02020603050405020304" pitchFamily="18" charset="0"/>
                <a:cs typeface="Times New Roman" panose="02020603050405020304" pitchFamily="18" charset="0"/>
              </a:rPr>
              <a:t>Pickup scheduling</a:t>
            </a:r>
          </a:p>
          <a:p>
            <a:r>
              <a:rPr lang="en-US" sz="2400" dirty="0">
                <a:latin typeface="Times New Roman" panose="02020603050405020304" pitchFamily="18" charset="0"/>
                <a:cs typeface="Times New Roman" panose="02020603050405020304" pitchFamily="18" charset="0"/>
              </a:rPr>
              <a:t>Volunteer assignment</a:t>
            </a:r>
          </a:p>
          <a:p>
            <a:r>
              <a:rPr lang="en-US" sz="2400" dirty="0">
                <a:latin typeface="Times New Roman" panose="02020603050405020304" pitchFamily="18" charset="0"/>
                <a:cs typeface="Times New Roman" panose="02020603050405020304" pitchFamily="18" charset="0"/>
              </a:rPr>
              <a:t>Collection confirmation</a:t>
            </a:r>
          </a:p>
          <a:p>
            <a:r>
              <a:rPr lang="en-US" sz="2400" dirty="0">
                <a:latin typeface="Times New Roman" panose="02020603050405020304" pitchFamily="18" charset="0"/>
                <a:cs typeface="Times New Roman" panose="02020603050405020304" pitchFamily="18" charset="0"/>
              </a:rPr>
              <a:t>Food distribution</a:t>
            </a:r>
          </a:p>
          <a:p>
            <a:r>
              <a:rPr lang="en-US" sz="2400" dirty="0">
                <a:latin typeface="Times New Roman" panose="02020603050405020304" pitchFamily="18" charset="0"/>
                <a:cs typeface="Times New Roman" panose="02020603050405020304" pitchFamily="18" charset="0"/>
              </a:rPr>
              <a:t>Delivery status tracking</a:t>
            </a:r>
          </a:p>
        </p:txBody>
      </p:sp>
      <p:sp>
        <p:nvSpPr>
          <p:cNvPr id="4" name="Date Placeholder 3">
            <a:extLst>
              <a:ext uri="{FF2B5EF4-FFF2-40B4-BE49-F238E27FC236}">
                <a16:creationId xmlns:a16="http://schemas.microsoft.com/office/drawing/2014/main" id="{7C506302-00EC-7215-69CD-8325B93736C4}"/>
              </a:ext>
            </a:extLst>
          </p:cNvPr>
          <p:cNvSpPr>
            <a:spLocks noGrp="1"/>
          </p:cNvSpPr>
          <p:nvPr>
            <p:ph type="dt" sz="half" idx="10"/>
          </p:nvPr>
        </p:nvSpPr>
        <p:spPr/>
        <p:txBody>
          <a:bodyPr/>
          <a:lstStyle/>
          <a:p>
            <a:fld id="{3C447009-55DF-4EA5-900B-29AFB7C8438A}" type="datetime1">
              <a:rPr lang="en-IN" smtClean="0"/>
              <a:t>27-08-2026</a:t>
            </a:fld>
            <a:endParaRPr lang="en-US"/>
          </a:p>
        </p:txBody>
      </p:sp>
      <p:sp>
        <p:nvSpPr>
          <p:cNvPr id="5" name="Footer Placeholder 4">
            <a:extLst>
              <a:ext uri="{FF2B5EF4-FFF2-40B4-BE49-F238E27FC236}">
                <a16:creationId xmlns:a16="http://schemas.microsoft.com/office/drawing/2014/main" id="{DD8DA1B4-F9D8-25CD-858B-DCC5D681505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6152F186-9808-BF90-175A-8D076972E136}"/>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2847232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TECHNOLOGY / SOFTWARE REQUIREMENTS</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normAutofit fontScale="55000" lnSpcReduction="20000"/>
          </a:bodyPr>
          <a:lstStyle/>
          <a:p>
            <a:r>
              <a:rPr lang="en-IN" dirty="0" b="1" sz="2400">
                <a:latin typeface="Bahnschrift Light" panose="020B0502040204020203" pitchFamily="34" charset="0"/>
              </a:rPr>
              <a:t>Frontend:</a:t>
            </a:r>
            <a:r>
              <a:rPr lang="en-IN" dirty="0" sz="2400">
                <a:latin typeface="Bahnschrift Light" panose="020B0502040204020203" pitchFamily="34" charset="0"/>
              </a:rPr>
              <a:t> React 18, Vite, Tailwind CSS</a:t>
            </a:r>
          </a:p>
          <a:p>
            <a:pPr marL="0" indent="0">
              <a:buNone/>
            </a:pPr>
            <a:endParaRPr lang="en-IN" b="1" dirty="0">
              <a:latin typeface="Bahnschrift Light" panose="020B0502040204020203" pitchFamily="34" charset="0"/>
              <a:cs typeface="Arial" panose="020B0604020202020204" pitchFamily="34" charset="0"/>
            </a:endParaRPr>
          </a:p>
          <a:p>
            <a:r>
              <a:rPr lang="en-IN" dirty="0" b="1" sz="2400">
                <a:latin typeface="Bahnschrift Light" panose="020B0502040204020203" pitchFamily="34" charset="0"/>
              </a:rPr>
              <a:t>Backend:</a:t>
            </a:r>
            <a:r>
              <a:rPr lang="en-IN" dirty="0" sz="2400">
                <a:latin typeface="Bahnschrift Light" panose="020B0502040204020203" pitchFamily="34" charset="0"/>
              </a:rPr>
              <a:t> FastAPI, Node.js + Express, Spring Boot</a:t>
            </a:r>
          </a:p>
          <a:p>
            <a:pPr marL="0" indent="0">
              <a:buNone/>
            </a:pPr>
            <a:endParaRPr lang="en-IN" b="1" dirty="0">
              <a:latin typeface="Bahnschrift Light" panose="020B0502040204020203" pitchFamily="34" charset="0"/>
              <a:cs typeface="Arial" panose="020B0604020202020204" pitchFamily="34" charset="0"/>
            </a:endParaRPr>
          </a:p>
          <a:p>
            <a:r>
              <a:rPr lang="en-IN" dirty="0" b="1" sz="2400">
                <a:latin typeface="Bahnschrift Light" panose="020B0502040204020203" pitchFamily="34" charset="0"/>
              </a:rPr>
              <a:t>Databases:</a:t>
            </a:r>
            <a:r>
              <a:rPr lang="en-IN" dirty="0" sz="2400">
                <a:latin typeface="Bahnschrift Light" panose="020B0502040204020203" pitchFamily="34" charset="0"/>
              </a:rPr>
              <a:t> PostgreSQL, MongoDB, pgvector, Redis</a:t>
            </a:r>
          </a:p>
          <a:p>
            <a:pPr marL="0" indent="0">
              <a:buNone/>
            </a:pPr>
            <a:endParaRPr lang="en-IN" b="1" dirty="0">
              <a:latin typeface="Bahnschrift Light" panose="020B0502040204020203" pitchFamily="34" charset="0"/>
              <a:cs typeface="Arial" panose="020B0604020202020204" pitchFamily="34" charset="0"/>
            </a:endParaRPr>
          </a:p>
          <a:p>
            <a:r>
              <a:rPr lang="en-IN" dirty="0" b="1" sz="2400">
                <a:latin typeface="Bahnschrift Light" panose="020B0502040204020203" pitchFamily="34" charset="0"/>
              </a:rPr>
              <a:t>Development &amp; Deployment:</a:t>
            </a:r>
            <a:r>
              <a:rPr lang="en-IN" dirty="0" sz="2400">
                <a:latin typeface="Bahnschrift Light" panose="020B0502040204020203" pitchFamily="34" charset="0"/>
              </a:rPr>
              <a:t> VS Code, Git &amp; GitHub, Docker, Kubernetes, GitHub Actions</a:t>
            </a:r>
          </a:p>
        </p:txBody>
      </p:sp>
    </p:spTree>
    <p:extLst>
      <p:ext uri="{BB962C8B-B14F-4D97-AF65-F5344CB8AC3E}">
        <p14:creationId xmlns:p14="http://schemas.microsoft.com/office/powerpoint/2010/main" val="109896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286569" y="368991"/>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13</a:t>
            </a:fld>
            <a:endParaRPr lang="en-US" dirty="0"/>
          </a:p>
        </p:txBody>
      </p:sp>
      <p:sp>
        <p:nvSpPr>
          <p:cNvPr id="6" name="TextBox 5">
            <a:extLst>
              <a:ext uri="{FF2B5EF4-FFF2-40B4-BE49-F238E27FC236}">
                <a16:creationId xmlns:a16="http://schemas.microsoft.com/office/drawing/2014/main" id="{7BAA4613-7EE6-C095-302F-C713C048224C}"/>
              </a:ext>
            </a:extLst>
          </p:cNvPr>
          <p:cNvSpPr txBox="1"/>
          <p:nvPr/>
        </p:nvSpPr>
        <p:spPr>
          <a:xfrm>
            <a:off x="1171575" y="1257300"/>
            <a:ext cx="7972425" cy="2308324"/>
          </a:xfrm>
          <a:prstGeom prst="rect">
            <a:avLst/>
          </a:prstGeom>
          <a:noFill/>
        </p:spPr>
        <p:txBody>
          <a:bodyPr wrap="square">
            <a:spAutoFit/>
          </a:bodyPr>
          <a:lstStyle/>
          <a:p>
            <a:r>
              <a:rPr lang="en-US" dirty="0">
                <a:latin typeface="Arial Rounded MT Bold" panose="020F0704030504030204" pitchFamily="34" charset="0"/>
              </a:rPr>
              <a:t>Conclusion:</a:t>
            </a:r>
          </a:p>
          <a:p>
            <a:pPr marL="228600" indent="-228600">
              <a:spcBef>
                <a:spcPts val="400"/>
              </a:spcBef>
              <a:buFont typeface="Arial"/>
              <a:buChar char="•"/>
            </a:pPr>
            <a:r>
              <a:rPr lang="en-US" dirty="0" sz="1600">
                <a:latin typeface="Bahnschrift Light" panose="020B0502040204020203" pitchFamily="34" charset="0"/>
              </a:rPr>
              <a:t>Provides a </a:t>
            </a:r>
            <a:r>
              <a:rPr lang="en-US" dirty="0" b="1" sz="1600">
                <a:latin typeface="Bahnschrift Light" panose="020B0502040204020203" pitchFamily="34" charset="0"/>
              </a:rPr>
              <a:t>centralized system</a:t>
            </a:r>
            <a:r>
              <a:rPr lang="en-US" dirty="0" sz="1600">
                <a:latin typeface="Bahnschrift Light" panose="020B0502040204020203" pitchFamily="34" charset="0"/>
              </a:rPr>
              <a:t> for managing surplus food.</a:t>
            </a:r>
          </a:p>
          <a:p>
            <a:pPr marL="228600" indent="-228600">
              <a:spcBef>
                <a:spcPts val="400"/>
              </a:spcBef>
              <a:buFont typeface="Arial"/>
              <a:buChar char="•"/>
            </a:pPr>
            <a:r>
              <a:rPr lang="en-US" dirty="0" sz="1600">
                <a:latin typeface="Bahnschrift Light" panose="020B0502040204020203" pitchFamily="34" charset="0"/>
              </a:rPr>
              <a:t>Connects </a:t>
            </a:r>
            <a:r>
              <a:rPr lang="en-US" dirty="0" b="1" sz="1600">
                <a:latin typeface="Bahnschrift Light" panose="020B0502040204020203" pitchFamily="34" charset="0"/>
              </a:rPr>
              <a:t>donors, NGOs, volunteers and beneficiaries</a:t>
            </a:r>
            <a:r>
              <a:rPr lang="en-US" dirty="0" sz="1600">
                <a:latin typeface="Bahnschrift Light" panose="020B0502040204020203" pitchFamily="34" charset="0"/>
              </a:rPr>
              <a:t>.</a:t>
            </a:r>
          </a:p>
          <a:p>
            <a:pPr marL="228600" indent="-228600">
              <a:spcBef>
                <a:spcPts val="400"/>
              </a:spcBef>
              <a:buFont typeface="Arial"/>
              <a:buChar char="•"/>
            </a:pPr>
            <a:r>
              <a:rPr lang="en-US" dirty="0" sz="1600">
                <a:latin typeface="Bahnschrift Light" panose="020B0502040204020203" pitchFamily="34" charset="0"/>
              </a:rPr>
              <a:t>Manages the process from </a:t>
            </a:r>
            <a:r>
              <a:rPr lang="en-US" dirty="0" b="1" sz="1600">
                <a:latin typeface="Bahnschrift Light" panose="020B0502040204020203" pitchFamily="34" charset="0"/>
              </a:rPr>
              <a:t>donation to pickup and final distribution</a:t>
            </a:r>
            <a:r>
              <a:rPr lang="en-US" dirty="0" sz="1600">
                <a:latin typeface="Bahnschrift Light" panose="020B0502040204020203" pitchFamily="34" charset="0"/>
              </a:rPr>
              <a:t>.</a:t>
            </a:r>
          </a:p>
          <a:p>
            <a:pPr marL="228600" indent="-228600">
              <a:spcBef>
                <a:spcPts val="400"/>
              </a:spcBef>
              <a:buFont typeface="Arial"/>
              <a:buChar char="•"/>
            </a:pPr>
            <a:r>
              <a:rPr lang="en-US" dirty="0" sz="1600">
                <a:latin typeface="Bahnschrift Light" panose="020B0502040204020203" pitchFamily="34" charset="0"/>
              </a:rPr>
              <a:t>Database techniques maintain </a:t>
            </a:r>
            <a:r>
              <a:rPr lang="en-US" dirty="0" b="1" sz="1600">
                <a:latin typeface="Bahnschrift Light" panose="020B0502040204020203" pitchFamily="34" charset="0"/>
              </a:rPr>
              <a:t>accurate and reliable records</a:t>
            </a:r>
            <a:r>
              <a:rPr lang="en-US" dirty="0" sz="1600">
                <a:latin typeface="Bahnschrift Light" panose="020B0502040204020203" pitchFamily="34" charset="0"/>
              </a:rPr>
              <a:t>.</a:t>
            </a:r>
          </a:p>
          <a:p>
            <a:pPr marL="228600" indent="-228600">
              <a:spcBef>
                <a:spcPts val="400"/>
              </a:spcBef>
              <a:buFont typeface="Arial"/>
              <a:buChar char="•"/>
            </a:pPr>
            <a:r>
              <a:rPr lang="en-US" dirty="0" b="1" sz="1600">
                <a:latin typeface="Bahnschrift Light" panose="020B0502040204020203" pitchFamily="34" charset="0"/>
              </a:rPr>
              <a:t>SQL</a:t>
            </a:r>
            <a:r>
              <a:rPr lang="en-US" dirty="0" sz="1600">
                <a:latin typeface="Bahnschrift Light" panose="020B0502040204020203" pitchFamily="34" charset="0"/>
              </a:rPr>
              <a:t> supports querying, reporting and analysis.</a:t>
            </a:r>
          </a:p>
          <a:p>
            <a:pPr marL="228600" indent="-228600">
              <a:spcBef>
                <a:spcPts val="400"/>
              </a:spcBef>
              <a:buFont typeface="Arial"/>
              <a:buChar char="•"/>
            </a:pPr>
            <a:r>
              <a:rPr lang="en-US" dirty="0" b="1" sz="1600">
                <a:latin typeface="Bahnschrift Light" panose="020B0502040204020203" pitchFamily="34" charset="0"/>
              </a:rPr>
              <a:t>PostgreSQL</a:t>
            </a:r>
            <a:r>
              <a:rPr lang="en-US" dirty="0" sz="1600">
                <a:latin typeface="Bahnschrift Light" panose="020B0502040204020203" pitchFamily="34" charset="0"/>
              </a:rPr>
              <a:t> provides the relational database foundation.</a:t>
            </a:r>
          </a:p>
          <a:p>
            <a:pPr marL="228600" indent="-228600">
              <a:spcBef>
                <a:spcPts val="400"/>
              </a:spcBef>
              <a:buFont typeface="Arial"/>
              <a:buChar char="•"/>
            </a:pPr>
            <a:r>
              <a:rPr lang="en-US" dirty="0" b="1" sz="1600">
                <a:latin typeface="Bahnschrift Light" panose="020B0502040204020203" pitchFamily="34" charset="0"/>
              </a:rPr>
              <a:t>MongoDB</a:t>
            </a:r>
            <a:r>
              <a:rPr lang="en-US" dirty="0" sz="1600">
                <a:latin typeface="Bahnschrift Light" panose="020B0502040204020203" pitchFamily="34" charset="0"/>
              </a:rPr>
              <a:t> supports flexible document-based data.</a:t>
            </a:r>
          </a:p>
          <a:p>
            <a:pPr marL="228600" indent="-228600">
              <a:spcBef>
                <a:spcPts val="400"/>
              </a:spcBef>
              <a:buFont typeface="Arial"/>
              <a:buChar char="•"/>
            </a:pPr>
            <a:r>
              <a:rPr lang="en-US" dirty="0" sz="1600">
                <a:latin typeface="Bahnschrift Light" panose="020B0502040204020203" pitchFamily="34" charset="0"/>
              </a:rPr>
              <a:t>Improves </a:t>
            </a:r>
            <a:r>
              <a:rPr lang="en-US" dirty="0" b="1" sz="1600">
                <a:latin typeface="Bahnschrift Light" panose="020B0502040204020203" pitchFamily="34" charset="0"/>
              </a:rPr>
              <a:t>traceability</a:t>
            </a:r>
            <a:r>
              <a:rPr lang="en-US" dirty="0" sz="1600">
                <a:latin typeface="Bahnschrift Light" panose="020B0502040204020203" pitchFamily="34" charset="0"/>
              </a:rPr>
              <a:t> and helps reduce food wastage.</a:t>
            </a:r>
          </a:p>
        </p:txBody>
      </p:sp>
      <p:sp>
        <p:nvSpPr>
          <p:cNvPr id="8" name="TextBox 7">
            <a:extLst>
              <a:ext uri="{FF2B5EF4-FFF2-40B4-BE49-F238E27FC236}">
                <a16:creationId xmlns:a16="http://schemas.microsoft.com/office/drawing/2014/main" id="{637EEE0A-2577-1C51-DDD8-A74C1C416F5F}"/>
              </a:ext>
            </a:extLst>
          </p:cNvPr>
          <p:cNvSpPr txBox="1"/>
          <p:nvPr/>
        </p:nvSpPr>
        <p:spPr>
          <a:xfrm>
            <a:off x="1171575" y="4250000"/>
            <a:ext cx="7972425" cy="2031325"/>
          </a:xfrm>
          <a:prstGeom prst="rect">
            <a:avLst/>
          </a:prstGeom>
          <a:noFill/>
        </p:spPr>
        <p:txBody>
          <a:bodyPr wrap="square">
            <a:spAutoFit/>
          </a:bodyPr>
          <a:lstStyle/>
          <a:p>
            <a:r>
              <a:rPr lang="en-US" dirty="0">
                <a:latin typeface="Arial Rounded MT Bold" panose="020F0704030504030204" pitchFamily="34" charset="0"/>
              </a:rPr>
              <a:t>Future Scope:</a:t>
            </a:r>
          </a:p>
          <a:p>
            <a:pPr marL="228600" indent="-228600">
              <a:spcBef>
                <a:spcPts val="400"/>
              </a:spcBef>
              <a:buFont typeface="Arial"/>
              <a:buChar char="•"/>
            </a:pPr>
            <a:r>
              <a:rPr lang="en-US" dirty="0" b="1" sz="1600">
                <a:latin typeface="Bahnschrift Light" panose="020B0502040204020203" pitchFamily="34" charset="0"/>
              </a:rPr>
              <a:t>Route optimization</a:t>
            </a:r>
            <a:r>
              <a:rPr lang="en-US" dirty="0" sz="1600">
                <a:latin typeface="Bahnschrift Light" panose="020B0502040204020203" pitchFamily="34" charset="0"/>
              </a:rPr>
              <a:t> using live traffic data.</a:t>
            </a:r>
          </a:p>
          <a:p>
            <a:pPr marL="228600" indent="-228600">
              <a:spcBef>
                <a:spcPts val="400"/>
              </a:spcBef>
              <a:buFont typeface="Arial"/>
              <a:buChar char="•"/>
            </a:pPr>
            <a:r>
              <a:rPr lang="en-US" dirty="0" sz="1600">
                <a:latin typeface="Bahnschrift Light" panose="020B0502040204020203" pitchFamily="34" charset="0"/>
              </a:rPr>
              <a:t>Further </a:t>
            </a:r>
            <a:r>
              <a:rPr lang="en-US" dirty="0" b="1" sz="1600">
                <a:latin typeface="Bahnschrift Light" panose="020B0502040204020203" pitchFamily="34" charset="0"/>
              </a:rPr>
              <a:t>scalability</a:t>
            </a:r>
            <a:r>
              <a:rPr lang="en-US" dirty="0" sz="1600">
                <a:latin typeface="Bahnschrift Light" panose="020B0502040204020203" pitchFamily="34" charset="0"/>
              </a:rPr>
              <a:t> for larger numbers of users and transactions.</a:t>
            </a:r>
          </a:p>
          <a:p>
            <a:pPr marL="228600" indent="-228600">
              <a:spcBef>
                <a:spcPts val="400"/>
              </a:spcBef>
              <a:buFont typeface="Arial"/>
              <a:buChar char="•"/>
            </a:pPr>
            <a:r>
              <a:rPr lang="en-US" dirty="0" sz="1600">
                <a:latin typeface="Bahnschrift Light" panose="020B0502040204020203" pitchFamily="34" charset="0"/>
              </a:rPr>
              <a:t>More advanced </a:t>
            </a:r>
            <a:r>
              <a:rPr lang="en-US" dirty="0" b="1" sz="1600">
                <a:latin typeface="Bahnschrift Light" panose="020B0502040204020203" pitchFamily="34" charset="0"/>
              </a:rPr>
              <a:t>analytics and optimization</a:t>
            </a:r>
            <a:r>
              <a:rPr lang="en-US" dirty="0" sz="1600">
                <a:latin typeface="Bahnschrift Light" panose="020B0502040204020203" pitchFamily="34" charset="0"/>
              </a:rPr>
              <a:t> techniques.</a:t>
            </a:r>
          </a:p>
          <a:p>
            <a:pPr marL="228600" indent="-228600">
              <a:spcBef>
                <a:spcPts val="400"/>
              </a:spcBef>
              <a:buFont typeface="Arial"/>
              <a:buChar char="•"/>
            </a:pPr>
            <a:r>
              <a:rPr lang="en-US" dirty="0" sz="1600">
                <a:latin typeface="Bahnschrift Light" panose="020B0502040204020203" pitchFamily="34" charset="0"/>
              </a:rPr>
              <a:t>Additional </a:t>
            </a:r>
            <a:r>
              <a:rPr lang="en-US" dirty="0" b="1" sz="1600">
                <a:latin typeface="Bahnschrift Light" panose="020B0502040204020203" pitchFamily="34" charset="0"/>
              </a:rPr>
              <a:t>intelligent matching</a:t>
            </a:r>
            <a:r>
              <a:rPr lang="en-US" dirty="0" sz="1600">
                <a:latin typeface="Bahnschrift Light" panose="020B0502040204020203" pitchFamily="34" charset="0"/>
              </a:rPr>
              <a:t> improvements.</a:t>
            </a:r>
          </a:p>
          <a:p>
            <a:pPr marL="228600" indent="-228600">
              <a:spcBef>
                <a:spcPts val="400"/>
              </a:spcBef>
              <a:buFont typeface="Arial"/>
              <a:buChar char="•"/>
            </a:pPr>
            <a:r>
              <a:rPr lang="en-US" dirty="0" sz="1600">
                <a:latin typeface="Bahnschrift Light" panose="020B0502040204020203" pitchFamily="34" charset="0"/>
              </a:rPr>
              <a:t>Expansion for </a:t>
            </a:r>
            <a:r>
              <a:rPr lang="en-US" dirty="0" b="1" sz="1600">
                <a:latin typeface="Bahnschrift Light" panose="020B0502040204020203" pitchFamily="34" charset="0"/>
              </a:rPr>
              <a:t>large-scale food redistribution networks</a:t>
            </a:r>
            <a:r>
              <a:rPr lang="en-US" dirty="0" sz="1600">
                <a:latin typeface="Bahnschrift Light" panose="020B0502040204020203" pitchFamily="34" charset="0"/>
              </a:rPr>
              <a:t>.</a:t>
            </a:r>
          </a:p>
        </p:txBody>
      </p:sp>
    </p:spTree>
    <p:extLst>
      <p:ext uri="{BB962C8B-B14F-4D97-AF65-F5344CB8AC3E}">
        <p14:creationId xmlns:p14="http://schemas.microsoft.com/office/powerpoint/2010/main" val="174900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21405650" y="740780"/>
            <a:ext cx="13275945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2" name="AutoShape 2" descr="Generated image: Elegant Thank You Card with Heart Flourish">
            <a:extLst>
              <a:ext uri="{FF2B5EF4-FFF2-40B4-BE49-F238E27FC236}">
                <a16:creationId xmlns:a16="http://schemas.microsoft.com/office/drawing/2014/main" id="{0E4C6E25-9944-C195-F2CA-FDA25451C6DD}"/>
              </a:ext>
            </a:extLst>
          </p:cNvPr>
          <p:cNvSpPr>
            <a:spLocks noChangeAspect="1" noChangeArrowheads="1"/>
          </p:cNvSpPr>
          <p:nvPr/>
        </p:nvSpPr>
        <p:spPr bwMode="auto">
          <a:xfrm>
            <a:off x="2400300" y="3276600"/>
            <a:ext cx="38481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Generated image: Elegant Thank You Card with Heart Flourish">
            <a:extLst>
              <a:ext uri="{FF2B5EF4-FFF2-40B4-BE49-F238E27FC236}">
                <a16:creationId xmlns:a16="http://schemas.microsoft.com/office/drawing/2014/main" id="{AD060A4E-12DF-44B8-F01A-38D62D213FB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7193C7C8-96DF-E4E7-69DA-470D847FB6C8}"/>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8349</TotalTime>
  <Words>1115</Words>
  <Application>Microsoft Office PowerPoint</Application>
  <PresentationFormat>Widescreen</PresentationFormat>
  <Paragraphs>173</Paragraphs>
  <Slides>14</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Arial Rounded MT Bold</vt:lpstr>
      <vt:lpstr>Bahnschrift Light</vt:lpstr>
      <vt:lpstr>Bahnschrift Light SemiCondensed</vt:lpstr>
      <vt:lpstr>Calibri</vt:lpstr>
      <vt:lpstr>Calibri Light</vt:lpstr>
      <vt:lpstr>Times New Roman</vt:lpstr>
      <vt:lpstr>Office Theme</vt:lpstr>
      <vt:lpstr>Custom Design</vt:lpstr>
      <vt:lpstr> 1st  REVIEW Food Surplus Redistribution and Community Hunger Reduction Platform -Connecting Food Donors, NGOs, Volunteers and Beneficiaries Through Intelligent Distribution. </vt:lpstr>
      <vt:lpstr>GROUP NUMBER:18</vt:lpstr>
      <vt:lpstr>ABSTRACT</vt:lpstr>
      <vt:lpstr>INTRDOUCTION</vt:lpstr>
      <vt:lpstr>EXISTING SYSTEM</vt:lpstr>
      <vt:lpstr>PROBLEM</vt:lpstr>
      <vt:lpstr>SOLUTION(Contribution)</vt:lpstr>
      <vt:lpstr>Objectives </vt:lpstr>
      <vt:lpstr>Modules</vt:lpstr>
      <vt:lpstr>PowerPoint Presentation</vt:lpstr>
      <vt:lpstr>PowerPoint Presentation</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yamini katta</cp:lastModifiedBy>
  <cp:revision>96</cp:revision>
  <dcterms:created xsi:type="dcterms:W3CDTF">2022-05-20T10:20:31Z</dcterms:created>
  <dcterms:modified xsi:type="dcterms:W3CDTF">2026-08-27T03:20:27Z</dcterms:modified>
</cp:coreProperties>
</file>