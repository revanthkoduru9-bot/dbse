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258" r:id="rId3"/>
    <p:sldId id="377" r:id="rId4"/>
    <p:sldId id="391" r:id="rId5"/>
    <p:sldId id="392" r:id="rId6"/>
    <p:sldId id="393" r:id="rId7"/>
    <p:sldId id="394" r:id="rId8"/>
    <p:sldId id="395" r:id="rId9"/>
    <p:sldId id="396" r:id="rId10"/>
    <p:sldId id="398" r:id="rId11"/>
    <p:sldId id="399" r:id="rId12"/>
    <p:sldId id="400" r:id="rId13"/>
    <p:sldId id="397" r:id="rId14"/>
    <p:sldId id="374"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p:scale>
          <a:sx n="101" d="100"/>
          <a:sy n="101" d="100"/>
        </p:scale>
        <p:origin x="72" y="43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12</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sz="2800" dirty="0">
                <a:solidFill>
                  <a:schemeClr val="accent1">
                    <a:lumMod val="75000"/>
                  </a:schemeClr>
                </a:solidFill>
              </a:rPr>
              <a:t>Food Surplus Redistribution and Community Hunger Reduction Platform</a:t>
            </a:r>
            <a:br>
              <a:rPr lang="en-US" sz="2800" dirty="0">
                <a:solidFill>
                  <a:schemeClr val="accent1">
                    <a:lumMod val="75000"/>
                  </a:schemeClr>
                </a:solidFill>
              </a:rPr>
            </a:br>
            <a:r>
              <a:rPr lang="en-US" sz="2800" dirty="0">
                <a:solidFill>
                  <a:schemeClr val="accent1">
                    <a:lumMod val="75000"/>
                  </a:schemeClr>
                </a:solidFill>
              </a:rPr>
              <a:t>-</a:t>
            </a:r>
            <a:r>
              <a:rPr lang="en-US" sz="1800" dirty="0">
                <a:solidFill>
                  <a:schemeClr val="accent1">
                    <a:lumMod val="75000"/>
                  </a:schemeClr>
                </a:solidFill>
              </a:rPr>
              <a:t>Connecting Food Donors, NGOs, Volunteers and Beneficiaries Through Intelligent Distribution</a:t>
            </a:r>
            <a:r>
              <a:rPr lang="en-US" sz="1800" dirty="0"/>
              <a:t>.</a:t>
            </a:r>
            <a:br>
              <a:rPr lang="en-US" sz="1800" b="1" dirty="0">
                <a:solidFill>
                  <a:schemeClr val="accent1">
                    <a:lumMod val="75000"/>
                  </a:schemeClr>
                </a:solidFill>
                <a:latin typeface="+mn-lt"/>
                <a:cs typeface="Arial" panose="020B0604020202020204" pitchFamily="34" charset="0"/>
              </a:rPr>
            </a:br>
            <a:endParaRPr lang="en-US" sz="1800" b="1" dirty="0">
              <a:solidFill>
                <a:schemeClr val="accent1">
                  <a:lumMod val="75000"/>
                </a:schemeClr>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069054078"/>
              </p:ext>
            </p:extLst>
          </p:nvPr>
        </p:nvGraphicFramePr>
        <p:xfrm>
          <a:off x="1913641" y="1696202"/>
          <a:ext cx="8246359" cy="1097280"/>
        </p:xfrm>
        <a:graphic>
          <a:graphicData uri="http://schemas.openxmlformats.org/drawingml/2006/table">
            <a:tbl>
              <a:tblPr firstRow="1" bandRow="1">
                <a:tableStyleId>{5940675A-B579-460E-94D1-54222C63F5DA}</a:tableStyleId>
              </a:tblPr>
              <a:tblGrid>
                <a:gridCol w="3596541">
                  <a:extLst>
                    <a:ext uri="{9D8B030D-6E8A-4147-A177-3AD203B41FA5}">
                      <a16:colId xmlns:a16="http://schemas.microsoft.com/office/drawing/2014/main" val="2649491121"/>
                    </a:ext>
                  </a:extLst>
                </a:gridCol>
                <a:gridCol w="4649818">
                  <a:extLst>
                    <a:ext uri="{9D8B030D-6E8A-4147-A177-3AD203B41FA5}">
                      <a16:colId xmlns:a16="http://schemas.microsoft.com/office/drawing/2014/main" val="1478369533"/>
                    </a:ext>
                  </a:extLst>
                </a:gridCol>
              </a:tblGrid>
              <a:tr h="296423">
                <a:tc>
                  <a:txBody>
                    <a:bodyPr/>
                    <a:lstStyle/>
                    <a:p>
                      <a:pPr algn="l" fontAlgn="b">
                        <a:buNone/>
                      </a:pPr>
                      <a:r>
                        <a:rPr lang="en-IN" sz="1600" b="0" i="0" u="none" strike="noStrike" dirty="0">
                          <a:solidFill>
                            <a:srgbClr val="000000"/>
                          </a:solidFill>
                          <a:effectLst/>
                          <a:latin typeface="Times New Roman" panose="02020603050405020304" pitchFamily="18" charset="0"/>
                        </a:rPr>
                        <a:t>KODURU REVANTH</a:t>
                      </a:r>
                    </a:p>
                  </a:txBody>
                  <a:tcPr marL="9525" marR="9525" marT="9525" marB="0" anchor="b"/>
                </a:tc>
                <a:tc>
                  <a:txBody>
                    <a:bodyPr/>
                    <a:lstStyle/>
                    <a:p>
                      <a:r>
                        <a:rPr lang="en-US" dirty="0"/>
                        <a:t>2520030545</a:t>
                      </a:r>
                    </a:p>
                  </a:txBody>
                  <a:tcPr/>
                </a:tc>
                <a:extLst>
                  <a:ext uri="{0D108BD9-81ED-4DB2-BD59-A6C34878D82A}">
                    <a16:rowId xmlns:a16="http://schemas.microsoft.com/office/drawing/2014/main" val="253518174"/>
                  </a:ext>
                </a:extLst>
              </a:tr>
              <a:tr h="296423">
                <a:tc>
                  <a:txBody>
                    <a:bodyPr/>
                    <a:lstStyle/>
                    <a:p>
                      <a:pPr algn="l" fontAlgn="b">
                        <a:buNone/>
                      </a:pPr>
                      <a:r>
                        <a:rPr lang="en-IN" sz="1600" b="0" i="0" u="none" strike="noStrike" dirty="0">
                          <a:solidFill>
                            <a:srgbClr val="000000"/>
                          </a:solidFill>
                          <a:effectLst/>
                          <a:latin typeface="Times New Roman" panose="02020603050405020304" pitchFamily="18" charset="0"/>
                        </a:rPr>
                        <a:t>PAILA NAVEEN</a:t>
                      </a:r>
                    </a:p>
                  </a:txBody>
                  <a:tcPr marL="9525" marR="9525" marT="9525" marB="0" anchor="b"/>
                </a:tc>
                <a:tc>
                  <a:txBody>
                    <a:bodyPr/>
                    <a:lstStyle/>
                    <a:p>
                      <a:r>
                        <a:rPr lang="en-US" dirty="0"/>
                        <a:t>2520030518</a:t>
                      </a:r>
                    </a:p>
                  </a:txBody>
                  <a:tcPr/>
                </a:tc>
                <a:extLst>
                  <a:ext uri="{0D108BD9-81ED-4DB2-BD59-A6C34878D82A}">
                    <a16:rowId xmlns:a16="http://schemas.microsoft.com/office/drawing/2014/main" val="2413438055"/>
                  </a:ext>
                </a:extLst>
              </a:tr>
              <a:tr h="296423">
                <a:tc>
                  <a:txBody>
                    <a:bodyPr/>
                    <a:lstStyle/>
                    <a:p>
                      <a:pPr algn="l" fontAlgn="b">
                        <a:buNone/>
                      </a:pPr>
                      <a:r>
                        <a:rPr lang="en-IN" sz="1600" b="0" i="0" u="none" strike="noStrike" dirty="0">
                          <a:solidFill>
                            <a:srgbClr val="000000"/>
                          </a:solidFill>
                          <a:effectLst/>
                          <a:latin typeface="Times New Roman" panose="02020603050405020304" pitchFamily="18" charset="0"/>
                        </a:rPr>
                        <a:t>KATTA YAMINI SAI</a:t>
                      </a:r>
                    </a:p>
                  </a:txBody>
                  <a:tcPr marL="9525" marR="9525" marT="9525" marB="0" anchor="b"/>
                </a:tc>
                <a:tc>
                  <a:txBody>
                    <a:bodyPr/>
                    <a:lstStyle/>
                    <a:p>
                      <a:r>
                        <a:rPr lang="en-US" dirty="0"/>
                        <a:t>2520030380</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NUMBER:18</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604415005"/>
              </p:ext>
            </p:extLst>
          </p:nvPr>
        </p:nvGraphicFramePr>
        <p:xfrm>
          <a:off x="809625" y="1416193"/>
          <a:ext cx="10544174" cy="5067127"/>
        </p:xfrm>
        <a:graphic>
          <a:graphicData uri="http://schemas.openxmlformats.org/drawingml/2006/table">
            <a:tbl>
              <a:tblPr firstRow="1" bandRow="1">
                <a:tableStyleId>{5A111915-BE36-4E01-A7E5-04B1672EAD32}</a:tableStyleId>
              </a:tblPr>
              <a:tblGrid>
                <a:gridCol w="5248101">
                  <a:extLst>
                    <a:ext uri="{9D8B030D-6E8A-4147-A177-3AD203B41FA5}">
                      <a16:colId xmlns:a16="http://schemas.microsoft.com/office/drawing/2014/main" val="446563831"/>
                    </a:ext>
                  </a:extLst>
                </a:gridCol>
                <a:gridCol w="5296073">
                  <a:extLst>
                    <a:ext uri="{9D8B030D-6E8A-4147-A177-3AD203B41FA5}">
                      <a16:colId xmlns:a16="http://schemas.microsoft.com/office/drawing/2014/main" val="4175382372"/>
                    </a:ext>
                  </a:extLst>
                </a:gridCol>
              </a:tblGrid>
              <a:tr h="918691">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1382812">
                <a:tc>
                  <a:txBody>
                    <a:bodyPr/>
                    <a:lstStyle/>
                    <a:p>
                      <a:r>
                        <a:rPr lang="en-IN" sz="2400" dirty="0"/>
                        <a:t>                         KODURU REVANTH</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         Database Design &amp; SQL Development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1382812">
                <a:tc>
                  <a:txBody>
                    <a:bodyPr/>
                    <a:lstStyle/>
                    <a:p>
                      <a:r>
                        <a:rPr lang="en-IN" sz="2400" dirty="0"/>
                        <a:t>                           PAILA NAVEEN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             ER Diagram &amp; System Architecture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1382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                          </a:t>
                      </a:r>
                      <a:r>
                        <a:rPr lang="en-IN" sz="2400" dirty="0"/>
                        <a:t>KATTA YAMINI SAI</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          </a:t>
                      </a:r>
                      <a:r>
                        <a:rPr lang="en-IN" sz="2000" dirty="0"/>
                        <a:t>Documentation, Queries &amp; Presentation</a:t>
                      </a:r>
                      <a:endParaRPr lang="en-US" sz="2000"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project aims to develop a platform that connects food donors with NGOs, volunteers, and communities in need to reduce food wastage and support efficient food redistribution. Large amounts of edible food from restaurants, hotels, events, supermarkets, and households are wasted every day, while many people struggle to access sufficient food. The lack of an organized system for connecting surplus food with people in need increases both food waste and hunger.</a:t>
            </a:r>
          </a:p>
          <a:p>
            <a:pPr marL="0" indent="0">
              <a:buNone/>
            </a:pPr>
            <a:r>
              <a:rPr lang="en-US" sz="2000" dirty="0">
                <a:latin typeface="Times New Roman" panose="02020603050405020304" pitchFamily="18" charset="0"/>
                <a:cs typeface="Times New Roman" panose="02020603050405020304" pitchFamily="18" charset="0"/>
              </a:rPr>
              <a:t>The proposed platform allows food donors to share details such as food type, quantity, location, and availability time. NGOs and volunteers can find nearby food donations, coordinate collection, and distribute the food to people in need. The system helps ensure timely collection and efficient redistribution of surplus food. By connecting donors, NGOs, volunteers, and beneficiaries through a single platform, the project aims to minimize food wastage, improve resource utilization, and support communities by ensuring surplus edible food reaches people who need it.</a:t>
            </a:r>
          </a:p>
          <a:p>
            <a:pPr marL="0" indent="0">
              <a:buNone/>
            </a:pP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85000" lnSpcReduction="20000"/>
          </a:bodyPr>
          <a:lstStyle/>
          <a:p>
            <a:r>
              <a:rPr lang="en-US" sz="2400" dirty="0">
                <a:latin typeface="Bahnschrift Light SemiCondensed" panose="020B0502040204020203" pitchFamily="34" charset="0"/>
              </a:rPr>
              <a:t>Food surplus is generated by restaurants, hotels, events and households, but a significant</a:t>
            </a:r>
          </a:p>
          <a:p>
            <a:pPr marL="0" indent="0">
              <a:buNone/>
            </a:pPr>
            <a:r>
              <a:rPr lang="en-US" sz="2400" dirty="0">
                <a:latin typeface="Bahnschrift Light SemiCondensed" panose="020B0502040204020203" pitchFamily="34" charset="0"/>
              </a:rPr>
              <a:t> amount of edible food is wasted due to poor coordination and inefficient distribution</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At the same time, many people are in need of food assistance.</a:t>
            </a:r>
          </a:p>
          <a:p>
            <a:pPr marL="0" indent="0">
              <a:buNone/>
            </a:pPr>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The </a:t>
            </a:r>
            <a:r>
              <a:rPr lang="en-US" sz="2400" b="1" dirty="0">
                <a:latin typeface="Bahnschrift Light SemiCondensed" panose="020B0502040204020203" pitchFamily="34" charset="0"/>
              </a:rPr>
              <a:t>Food Surplus Redistribution System</a:t>
            </a:r>
            <a:r>
              <a:rPr lang="en-US" sz="2400" dirty="0">
                <a:latin typeface="Bahnschrift Light SemiCondensed" panose="020B0502040204020203" pitchFamily="34" charset="0"/>
              </a:rPr>
              <a:t> is a DBMS-based platform that connects </a:t>
            </a:r>
            <a:r>
              <a:rPr lang="en-US" sz="2400" b="1" dirty="0">
                <a:latin typeface="Bahnschrift Light SemiCondensed" panose="020B0502040204020203" pitchFamily="34" charset="0"/>
              </a:rPr>
              <a:t>food</a:t>
            </a:r>
          </a:p>
          <a:p>
            <a:pPr marL="0" indent="0">
              <a:buNone/>
            </a:pPr>
            <a:r>
              <a:rPr lang="en-US" sz="2400" b="1" dirty="0">
                <a:latin typeface="Bahnschrift Light SemiCondensed" panose="020B0502040204020203" pitchFamily="34" charset="0"/>
              </a:rPr>
              <a:t> donors, NGOs, volunteers and beneficiaries</a:t>
            </a:r>
            <a:r>
              <a:rPr lang="en-US" sz="2400" dirty="0">
                <a:latin typeface="Bahnschrift Light SemiCondensed" panose="020B0502040204020203" pitchFamily="34" charset="0"/>
              </a:rPr>
              <a:t>.</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The system maintains organized records of </a:t>
            </a:r>
            <a:r>
              <a:rPr lang="en-US" sz="2400" b="1" dirty="0">
                <a:latin typeface="Bahnschrift Light SemiCondensed" panose="020B0502040204020203" pitchFamily="34" charset="0"/>
              </a:rPr>
              <a:t>donations, donors, NGOs, volunteers, pickups and beneficiaries</a:t>
            </a:r>
            <a:r>
              <a:rPr lang="en-US" sz="2400" dirty="0">
                <a:latin typeface="Bahnschrift Light SemiCondensed" panose="020B0502040204020203" pitchFamily="34" charset="0"/>
              </a:rPr>
              <a:t>.</a:t>
            </a:r>
          </a:p>
          <a:p>
            <a:pPr marL="0" indent="0">
              <a:buNone/>
            </a:pPr>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It helps coordinate the collection and distribution of surplus food efficiently, reducing food wastage and improving access to food</a:t>
            </a:r>
            <a:r>
              <a:rPr lang="en-US" dirty="0">
                <a:latin typeface="Bahnschrift Light SemiCondensed" panose="020B0502040204020203" pitchFamily="34" charset="0"/>
              </a:rPr>
              <a:t>.</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Autofit/>
          </a:bodyPr>
          <a:lstStyle/>
          <a:p>
            <a:r>
              <a:rPr lang="en-US" sz="2000" dirty="0">
                <a:latin typeface="Bahnschrift Light SemiCondensed" panose="020B0502040204020203" pitchFamily="34" charset="0"/>
              </a:rPr>
              <a:t>Currently, surplus food redistribution is mainly handled through </a:t>
            </a:r>
            <a:r>
              <a:rPr lang="en-US" sz="2000" b="1" dirty="0">
                <a:latin typeface="Bahnschrift Light SemiCondensed" panose="020B0502040204020203" pitchFamily="34" charset="0"/>
              </a:rPr>
              <a:t>manual communication and coordination</a:t>
            </a:r>
            <a:r>
              <a:rPr lang="en-US" sz="2000" dirty="0">
                <a:latin typeface="Bahnschrift Light SemiCondensed" panose="020B0502040204020203" pitchFamily="34" charset="0"/>
              </a:rPr>
              <a:t> between donors, NGOs and volunteers.</a:t>
            </a:r>
          </a:p>
          <a:p>
            <a:r>
              <a:rPr lang="en-US" sz="2000" dirty="0">
                <a:latin typeface="Bahnschrift Light SemiCondensed" panose="020B0502040204020203" pitchFamily="34" charset="0"/>
              </a:rPr>
              <a:t>Donors usually contact NGOs through </a:t>
            </a:r>
            <a:r>
              <a:rPr lang="en-US" sz="2000" b="1" dirty="0">
                <a:latin typeface="Bahnschrift Light SemiCondensed" panose="020B0502040204020203" pitchFamily="34" charset="0"/>
              </a:rPr>
              <a:t>phone calls, messages or social media</a:t>
            </a:r>
            <a:r>
              <a:rPr lang="en-US" sz="2000" dirty="0">
                <a:latin typeface="Bahnschrift Light SemiCondensed" panose="020B0502040204020203" pitchFamily="34" charset="0"/>
              </a:rPr>
              <a:t> to inform them about available food.</a:t>
            </a:r>
          </a:p>
          <a:p>
            <a:r>
              <a:rPr lang="en-US" sz="2000" dirty="0">
                <a:latin typeface="Bahnschrift Light SemiCondensed" panose="020B0502040204020203" pitchFamily="34" charset="0"/>
              </a:rPr>
              <a:t>Food donation details may be maintained using </a:t>
            </a:r>
            <a:r>
              <a:rPr lang="en-US" sz="2000" b="1" dirty="0">
                <a:latin typeface="Bahnschrift Light SemiCondensed" panose="020B0502040204020203" pitchFamily="34" charset="0"/>
              </a:rPr>
              <a:t>paper records, spreadsheets or separate files</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There is no centralized system to efficiently track </a:t>
            </a:r>
            <a:r>
              <a:rPr lang="en-US" sz="2000" b="1" dirty="0">
                <a:latin typeface="Bahnschrift Light SemiCondensed" panose="020B0502040204020203" pitchFamily="34" charset="0"/>
              </a:rPr>
              <a:t>food availability, quantity, pickup status and distribution</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Manual coordination can lead to </a:t>
            </a:r>
            <a:r>
              <a:rPr lang="en-US" sz="2000" b="1" dirty="0">
                <a:latin typeface="Bahnschrift Light SemiCondensed" panose="020B0502040204020203" pitchFamily="34" charset="0"/>
              </a:rPr>
              <a:t>delays, data duplication, errors and difficulty in generating reports</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It is difficult to monitor the complete journey of donated food from </a:t>
            </a:r>
            <a:r>
              <a:rPr lang="en-US" sz="2000" b="1" dirty="0">
                <a:latin typeface="Bahnschrift Light SemiCondensed" panose="020B0502040204020203" pitchFamily="34" charset="0"/>
              </a:rPr>
              <a:t>donor → pickup → NGO → beneficiary</a:t>
            </a:r>
            <a:r>
              <a:rPr lang="en-US" sz="2000" dirty="0"/>
              <a:t>.</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r>
              <a:rPr lang="en-US" sz="2400" dirty="0">
                <a:latin typeface="Bahnschrift Light SemiCondensed" panose="020B0502040204020203" pitchFamily="34" charset="0"/>
              </a:rPr>
              <a:t>Large quantities of </a:t>
            </a:r>
            <a:r>
              <a:rPr lang="en-US" sz="2400" b="1" dirty="0">
                <a:latin typeface="Bahnschrift Light SemiCondensed" panose="020B0502040204020203" pitchFamily="34" charset="0"/>
              </a:rPr>
              <a:t>edible food are wasted</a:t>
            </a:r>
            <a:r>
              <a:rPr lang="en-US" sz="2400" dirty="0">
                <a:latin typeface="Bahnschrift Light SemiCondensed" panose="020B0502040204020203" pitchFamily="34" charset="0"/>
              </a:rPr>
              <a:t> by restaurants, hotels, events and households.</a:t>
            </a:r>
          </a:p>
          <a:p>
            <a:r>
              <a:rPr lang="en-US" sz="2400" dirty="0">
                <a:latin typeface="Bahnschrift Light SemiCondensed" panose="020B0502040204020203" pitchFamily="34" charset="0"/>
              </a:rPr>
              <a:t>At the same time, many </a:t>
            </a:r>
            <a:r>
              <a:rPr lang="en-US" sz="2400" b="1" dirty="0">
                <a:latin typeface="Bahnschrift Light SemiCondensed" panose="020B0502040204020203" pitchFamily="34" charset="0"/>
              </a:rPr>
              <a:t>people and communities face food shortages</a:t>
            </a:r>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There is no centralized system to efficiently connect </a:t>
            </a:r>
            <a:r>
              <a:rPr lang="en-US" sz="2400" b="1" dirty="0">
                <a:latin typeface="Bahnschrift Light SemiCondensed" panose="020B0502040204020203" pitchFamily="34" charset="0"/>
              </a:rPr>
              <a:t>food donors with NGOs and beneficiaries</a:t>
            </a:r>
            <a:r>
              <a:rPr lang="en-US" sz="2400" dirty="0">
                <a:latin typeface="Bahnschrift Light SemiCondensed" panose="020B0502040204020203" pitchFamily="34" charset="0"/>
              </a:rPr>
              <a:t>.</a:t>
            </a:r>
          </a:p>
          <a:p>
            <a:r>
              <a:rPr lang="en-US" sz="2400" dirty="0">
                <a:latin typeface="Bahnschrift Light SemiCondensed" panose="020B0502040204020203" pitchFamily="34" charset="0"/>
              </a:rPr>
              <a:t>Managing donation details, food quantity, pickup and delivery through manual methods can cause </a:t>
            </a:r>
            <a:r>
              <a:rPr lang="en-US" sz="2400" b="1" dirty="0">
                <a:latin typeface="Bahnschrift Light SemiCondensed" panose="020B0502040204020203" pitchFamily="34" charset="0"/>
              </a:rPr>
              <a:t>delays and errors</a:t>
            </a:r>
            <a:r>
              <a:rPr lang="en-US" sz="2400" dirty="0">
                <a:latin typeface="Bahnschrift Light SemiCondensed" panose="020B0502040204020203" pitchFamily="34" charset="0"/>
              </a:rPr>
              <a:t>.</a:t>
            </a:r>
          </a:p>
          <a:p>
            <a:r>
              <a:rPr lang="en-US" sz="2400" dirty="0">
                <a:latin typeface="Bahnschrift Light SemiCondensed" panose="020B0502040204020203" pitchFamily="34" charset="0"/>
              </a:rPr>
              <a:t>It is difficult to </a:t>
            </a:r>
            <a:r>
              <a:rPr lang="en-US" sz="2400" b="1" dirty="0">
                <a:latin typeface="Bahnschrift Light SemiCondensed" panose="020B0502040204020203" pitchFamily="34" charset="0"/>
              </a:rPr>
              <a:t>track donated food from collection to final distribution</a:t>
            </a:r>
            <a:r>
              <a:rPr lang="en-US" sz="2400" dirty="0">
                <a:latin typeface="Bahnschrift Light SemiCondensed" panose="020B0502040204020203" pitchFamily="34" charset="0"/>
              </a:rPr>
              <a:t>.</a:t>
            </a:r>
          </a:p>
          <a:p>
            <a:r>
              <a:rPr lang="en-US" sz="2400" dirty="0">
                <a:latin typeface="Bahnschrift Light SemiCondensed" panose="020B0502040204020203" pitchFamily="34" charset="0"/>
              </a:rPr>
              <a:t>Therefore, a </a:t>
            </a:r>
            <a:r>
              <a:rPr lang="en-US" sz="2400" b="1" dirty="0">
                <a:latin typeface="Bahnschrift Light SemiCondensed" panose="020B0502040204020203" pitchFamily="34" charset="0"/>
              </a:rPr>
              <a:t>centralized DBMS-based system</a:t>
            </a:r>
            <a:r>
              <a:rPr lang="en-US" sz="2400" dirty="0">
                <a:latin typeface="Bahnschrift Light SemiCondensed" panose="020B0502040204020203" pitchFamily="34" charset="0"/>
              </a:rPr>
              <a:t> is needed to manage and monitor the complete food redistribution process efficiently.</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dirty="0"/>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r>
              <a:rPr lang="en-US" sz="2000" dirty="0">
                <a:latin typeface="Bahnschrift Light" panose="020B0502040204020203" pitchFamily="34" charset="0"/>
              </a:rPr>
              <a:t>Develop a </a:t>
            </a:r>
            <a:r>
              <a:rPr lang="en-US" sz="2000" b="1" dirty="0">
                <a:latin typeface="Bahnschrift Light" panose="020B0502040204020203" pitchFamily="34" charset="0"/>
              </a:rPr>
              <a:t>centralized DBMS-based Food Surplus Redistribution System</a:t>
            </a:r>
            <a:r>
              <a:rPr lang="en-US" sz="2000" dirty="0">
                <a:latin typeface="Bahnschrift Light" panose="020B0502040204020203" pitchFamily="34" charset="0"/>
              </a:rPr>
              <a:t>.</a:t>
            </a:r>
          </a:p>
          <a:p>
            <a:r>
              <a:rPr lang="en-US" sz="2000" dirty="0">
                <a:latin typeface="Bahnschrift Light" panose="020B0502040204020203" pitchFamily="34" charset="0"/>
              </a:rPr>
              <a:t>Connect </a:t>
            </a:r>
            <a:r>
              <a:rPr lang="en-US" sz="2000" b="1" dirty="0">
                <a:latin typeface="Bahnschrift Light" panose="020B0502040204020203" pitchFamily="34" charset="0"/>
              </a:rPr>
              <a:t>food donors, NGOs, volunteers and beneficiaries</a:t>
            </a:r>
            <a:r>
              <a:rPr lang="en-US" sz="2000" dirty="0">
                <a:latin typeface="Bahnschrift Light" panose="020B0502040204020203" pitchFamily="34" charset="0"/>
              </a:rPr>
              <a:t> through a single platform.</a:t>
            </a:r>
          </a:p>
          <a:p>
            <a:r>
              <a:rPr lang="en-US" sz="2000" dirty="0">
                <a:latin typeface="Bahnschrift Light" panose="020B0502040204020203" pitchFamily="34" charset="0"/>
              </a:rPr>
              <a:t>Maintain organized records of </a:t>
            </a:r>
            <a:r>
              <a:rPr lang="en-US" sz="2000" b="1" dirty="0">
                <a:latin typeface="Bahnschrift Light" panose="020B0502040204020203" pitchFamily="34" charset="0"/>
              </a:rPr>
              <a:t>donations, food quantity, expiry dates, pickups and deliveries</a:t>
            </a:r>
            <a:r>
              <a:rPr lang="en-US" sz="2000" dirty="0">
                <a:latin typeface="Bahnschrift Light" panose="020B0502040204020203" pitchFamily="34" charset="0"/>
              </a:rPr>
              <a:t>.</a:t>
            </a:r>
          </a:p>
          <a:p>
            <a:r>
              <a:rPr lang="en-US" sz="2000" dirty="0">
                <a:latin typeface="Bahnschrift Light" panose="020B0502040204020203" pitchFamily="34" charset="0"/>
              </a:rPr>
              <a:t>Enable NGOs and volunteers to </a:t>
            </a:r>
            <a:r>
              <a:rPr lang="en-US" sz="2000" b="1" dirty="0">
                <a:latin typeface="Bahnschrift Light" panose="020B0502040204020203" pitchFamily="34" charset="0"/>
              </a:rPr>
              <a:t>coordinate food collection and distribution efficiently</a:t>
            </a:r>
            <a:r>
              <a:rPr lang="en-US" sz="2000" dirty="0">
                <a:latin typeface="Bahnschrift Light" panose="020B0502040204020203" pitchFamily="34" charset="0"/>
              </a:rPr>
              <a:t>.</a:t>
            </a:r>
          </a:p>
          <a:p>
            <a:r>
              <a:rPr lang="en-US" sz="2000" dirty="0">
                <a:latin typeface="Bahnschrift Light" panose="020B0502040204020203" pitchFamily="34" charset="0"/>
              </a:rPr>
              <a:t>Use </a:t>
            </a:r>
            <a:r>
              <a:rPr lang="en-US" sz="2000" b="1" dirty="0">
                <a:latin typeface="Bahnschrift Light" panose="020B0502040204020203" pitchFamily="34" charset="0"/>
              </a:rPr>
              <a:t>SQL queries, joins, aggregate functions and triggers</a:t>
            </a:r>
            <a:r>
              <a:rPr lang="en-US" sz="2000" dirty="0">
                <a:latin typeface="Bahnschrift Light" panose="020B0502040204020203" pitchFamily="34" charset="0"/>
              </a:rPr>
              <a:t> for effective database management.</a:t>
            </a:r>
          </a:p>
          <a:p>
            <a:r>
              <a:rPr lang="en-US" sz="2000" dirty="0">
                <a:latin typeface="Bahnschrift Light" panose="020B0502040204020203" pitchFamily="34" charset="0"/>
              </a:rPr>
              <a:t>Provide </a:t>
            </a:r>
            <a:r>
              <a:rPr lang="en-US" sz="2000" b="1" dirty="0">
                <a:latin typeface="Bahnschrift Light" panose="020B0502040204020203" pitchFamily="34" charset="0"/>
              </a:rPr>
              <a:t>accurate tracking and reporting</a:t>
            </a:r>
            <a:r>
              <a:rPr lang="en-US" sz="2000" dirty="0">
                <a:latin typeface="Bahnschrift Light" panose="020B0502040204020203" pitchFamily="34" charset="0"/>
              </a:rPr>
              <a:t> of food donations and distributions.</a:t>
            </a:r>
          </a:p>
          <a:p>
            <a:r>
              <a:rPr lang="en-US" sz="2000" dirty="0">
                <a:latin typeface="Bahnschrift Light" panose="020B0502040204020203" pitchFamily="34" charset="0"/>
              </a:rPr>
              <a:t>Help </a:t>
            </a:r>
            <a:r>
              <a:rPr lang="en-US" sz="2000" b="1" dirty="0">
                <a:latin typeface="Bahnschrift Light" panose="020B0502040204020203" pitchFamily="34" charset="0"/>
              </a:rPr>
              <a:t>reduce food wastage</a:t>
            </a:r>
            <a:r>
              <a:rPr lang="en-US" sz="2000" dirty="0">
                <a:latin typeface="Bahnschrift Light" panose="020B0502040204020203" pitchFamily="34" charset="0"/>
              </a:rPr>
              <a:t> and ensure surplus food reaches people in need.</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838200" y="1543050"/>
            <a:ext cx="10515600" cy="4633913"/>
          </a:xfrm>
        </p:spPr>
        <p:txBody>
          <a:bodyPr>
            <a:normAutofit/>
          </a:bodyPr>
          <a:lstStyle/>
          <a:p>
            <a:r>
              <a:rPr lang="en-US" sz="2000" dirty="0">
                <a:latin typeface="Bahnschrift Light" panose="020B0502040204020203" pitchFamily="34" charset="0"/>
              </a:rPr>
              <a:t>To </a:t>
            </a:r>
            <a:r>
              <a:rPr lang="en-US" sz="2000" b="1" dirty="0">
                <a:latin typeface="Bahnschrift Light" panose="020B0502040204020203" pitchFamily="34" charset="0"/>
              </a:rPr>
              <a:t>reduce food wastage</a:t>
            </a:r>
            <a:r>
              <a:rPr lang="en-US" sz="2000" dirty="0">
                <a:latin typeface="Bahnschrift Light" panose="020B0502040204020203" pitchFamily="34" charset="0"/>
              </a:rPr>
              <a:t> by efficiently redistributing surplus food.</a:t>
            </a:r>
          </a:p>
          <a:p>
            <a:r>
              <a:rPr lang="en-US" sz="2000" dirty="0">
                <a:latin typeface="Bahnschrift Light" panose="020B0502040204020203" pitchFamily="34" charset="0"/>
              </a:rPr>
              <a:t>To create a </a:t>
            </a:r>
            <a:r>
              <a:rPr lang="en-US" sz="2000" b="1" dirty="0">
                <a:latin typeface="Bahnschrift Light" panose="020B0502040204020203" pitchFamily="34" charset="0"/>
              </a:rPr>
              <a:t>centralized database</a:t>
            </a:r>
            <a:r>
              <a:rPr lang="en-US" sz="2000" dirty="0">
                <a:latin typeface="Bahnschrift Light" panose="020B0502040204020203" pitchFamily="34" charset="0"/>
              </a:rPr>
              <a:t> for managing food donation information.</a:t>
            </a:r>
          </a:p>
          <a:p>
            <a:r>
              <a:rPr lang="en-US" sz="2000" dirty="0">
                <a:latin typeface="Bahnschrift Light" panose="020B0502040204020203" pitchFamily="34" charset="0"/>
              </a:rPr>
              <a:t>To connect </a:t>
            </a:r>
            <a:r>
              <a:rPr lang="en-US" sz="2000" b="1" dirty="0">
                <a:latin typeface="Bahnschrift Light" panose="020B0502040204020203" pitchFamily="34" charset="0"/>
              </a:rPr>
              <a:t>donors, NGOs, volunteers and beneficiaries</a:t>
            </a:r>
            <a:r>
              <a:rPr lang="en-US" sz="2000" dirty="0">
                <a:latin typeface="Bahnschrift Light" panose="020B0502040204020203" pitchFamily="34" charset="0"/>
              </a:rPr>
              <a:t> through an organized system.</a:t>
            </a:r>
          </a:p>
          <a:p>
            <a:r>
              <a:rPr lang="en-US" sz="2000" dirty="0">
                <a:latin typeface="Bahnschrift Light" panose="020B0502040204020203" pitchFamily="34" charset="0"/>
              </a:rPr>
              <a:t>To maintain accurate records of </a:t>
            </a:r>
            <a:r>
              <a:rPr lang="en-US" sz="2000" b="1" dirty="0">
                <a:latin typeface="Bahnschrift Light" panose="020B0502040204020203" pitchFamily="34" charset="0"/>
              </a:rPr>
              <a:t>food quantity, type, expiry date and availability</a:t>
            </a:r>
            <a:r>
              <a:rPr lang="en-US" sz="2000" dirty="0">
                <a:latin typeface="Bahnschrift Light" panose="020B0502040204020203" pitchFamily="34" charset="0"/>
              </a:rPr>
              <a:t>.</a:t>
            </a:r>
          </a:p>
          <a:p>
            <a:r>
              <a:rPr lang="en-US" sz="2000" dirty="0">
                <a:latin typeface="Bahnschrift Light" panose="020B0502040204020203" pitchFamily="34" charset="0"/>
              </a:rPr>
              <a:t>To efficiently manage </a:t>
            </a:r>
            <a:r>
              <a:rPr lang="en-US" sz="2000" b="1" dirty="0">
                <a:latin typeface="Bahnschrift Light" panose="020B0502040204020203" pitchFamily="34" charset="0"/>
              </a:rPr>
              <a:t>food pickup and delivery</a:t>
            </a:r>
            <a:r>
              <a:rPr lang="en-US" sz="2000" dirty="0">
                <a:latin typeface="Bahnschrift Light" panose="020B0502040204020203" pitchFamily="34" charset="0"/>
              </a:rPr>
              <a:t>.</a:t>
            </a:r>
          </a:p>
          <a:p>
            <a:r>
              <a:rPr lang="en-US" sz="2000" dirty="0">
                <a:latin typeface="Bahnschrift Light" panose="020B0502040204020203" pitchFamily="34" charset="0"/>
              </a:rPr>
              <a:t>To track the complete </a:t>
            </a:r>
            <a:r>
              <a:rPr lang="en-US" sz="2000" b="1" dirty="0">
                <a:latin typeface="Bahnschrift Light" panose="020B0502040204020203" pitchFamily="34" charset="0"/>
              </a:rPr>
              <a:t>donation and distribution process</a:t>
            </a:r>
            <a:r>
              <a:rPr lang="en-US" sz="2000" dirty="0">
                <a:latin typeface="Bahnschrift Light" panose="020B0502040204020203" pitchFamily="34" charset="0"/>
              </a:rPr>
              <a:t>.</a:t>
            </a:r>
          </a:p>
          <a:p>
            <a:r>
              <a:rPr lang="en-US" sz="2000" dirty="0">
                <a:latin typeface="Bahnschrift Light" panose="020B0502040204020203" pitchFamily="34" charset="0"/>
              </a:rPr>
              <a:t>To generate useful </a:t>
            </a:r>
            <a:r>
              <a:rPr lang="en-US" sz="2000" b="1" dirty="0">
                <a:latin typeface="Bahnschrift Light" panose="020B0502040204020203" pitchFamily="34" charset="0"/>
              </a:rPr>
              <a:t>reports and statistics</a:t>
            </a:r>
            <a:r>
              <a:rPr lang="en-US" sz="2000" dirty="0">
                <a:latin typeface="Bahnschrift Light" panose="020B0502040204020203" pitchFamily="34" charset="0"/>
              </a:rPr>
              <a:t> using DBMS and SQL.</a:t>
            </a:r>
          </a:p>
          <a:p>
            <a:r>
              <a:rPr lang="en-US" sz="2000" dirty="0">
                <a:latin typeface="Bahnschrift Light" panose="020B0502040204020203" pitchFamily="34" charset="0"/>
              </a:rPr>
              <a:t>To improve the </a:t>
            </a:r>
            <a:r>
              <a:rPr lang="en-US" sz="2000" b="1" dirty="0">
                <a:latin typeface="Bahnschrift Light" panose="020B0502040204020203" pitchFamily="34" charset="0"/>
              </a:rPr>
              <a:t>efficiency, transparency and reliability</a:t>
            </a:r>
            <a:r>
              <a:rPr lang="en-US" sz="2000" dirty="0">
                <a:latin typeface="Bahnschrift Light" panose="020B0502040204020203" pitchFamily="34" charset="0"/>
              </a:rPr>
              <a:t> of food redistribution.</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3" name="Rectangle 1">
            <a:extLst>
              <a:ext uri="{FF2B5EF4-FFF2-40B4-BE49-F238E27FC236}">
                <a16:creationId xmlns:a16="http://schemas.microsoft.com/office/drawing/2014/main" id="{FC0FB235-DA76-2C60-80E3-40A1C3A35159}"/>
              </a:ext>
            </a:extLst>
          </p:cNvPr>
          <p:cNvSpPr>
            <a:spLocks noGrp="1" noChangeArrowheads="1"/>
          </p:cNvSpPr>
          <p:nvPr>
            <p:ph idx="1"/>
          </p:nvPr>
        </p:nvSpPr>
        <p:spPr bwMode="auto">
          <a:xfrm>
            <a:off x="838200" y="1565244"/>
            <a:ext cx="9620250" cy="487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t>User Authentication &amp; Management</a:t>
            </a:r>
          </a:p>
          <a:p>
            <a:r>
              <a:rPr lang="en-IN" sz="1800" dirty="0"/>
              <a:t>User Registration &amp; Login </a:t>
            </a:r>
          </a:p>
          <a:p>
            <a:r>
              <a:rPr lang="en-IN" sz="1800" dirty="0"/>
              <a:t>Role-Based Access </a:t>
            </a:r>
          </a:p>
          <a:p>
            <a:r>
              <a:rPr lang="en-IN" sz="1800" dirty="0"/>
              <a:t>User Profile Management </a:t>
            </a:r>
          </a:p>
          <a:p>
            <a:r>
              <a:rPr lang="en-IN" sz="1800" dirty="0"/>
              <a:t>Authentication &amp; Authorization </a:t>
            </a:r>
          </a:p>
          <a:p>
            <a:r>
              <a:rPr lang="en-IN" sz="1800" dirty="0"/>
              <a:t>Password Management </a:t>
            </a:r>
          </a:p>
          <a:p>
            <a:endParaRPr lang="en-IN" sz="1800" dirty="0"/>
          </a:p>
          <a:p>
            <a:r>
              <a:rPr lang="en-IN" sz="1800" b="1" dirty="0"/>
              <a:t>Food Donor Management</a:t>
            </a:r>
          </a:p>
          <a:p>
            <a:r>
              <a:rPr lang="en-IN" sz="1800" dirty="0"/>
              <a:t>Donor Registration </a:t>
            </a:r>
          </a:p>
          <a:p>
            <a:r>
              <a:rPr lang="en-IN" sz="1800" dirty="0"/>
              <a:t>Food Donation Details </a:t>
            </a:r>
          </a:p>
          <a:p>
            <a:r>
              <a:rPr lang="en-IN" sz="1800" dirty="0"/>
              <a:t>Food Type &amp; Quantity </a:t>
            </a:r>
          </a:p>
          <a:p>
            <a:r>
              <a:rPr lang="en-IN" sz="1800" dirty="0"/>
              <a:t>Location &amp; Availability </a:t>
            </a:r>
          </a:p>
          <a:p>
            <a:r>
              <a:rPr lang="en-IN" sz="1800" dirty="0"/>
              <a:t>Donation Status Tracking</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E1EB-7E1F-18A1-30E7-A5EF3E65584F}"/>
              </a:ext>
            </a:extLst>
          </p:cNvPr>
          <p:cNvSpPr>
            <a:spLocks noGrp="1"/>
          </p:cNvSpPr>
          <p:nvPr>
            <p:ph type="title"/>
          </p:nvPr>
        </p:nvSpPr>
        <p:spPr>
          <a:xfrm flipV="1">
            <a:off x="14030325" y="-1181101"/>
            <a:ext cx="523874" cy="1177917"/>
          </a:xfrm>
        </p:spPr>
        <p:txBody>
          <a:bodyPr/>
          <a:lstStyle/>
          <a:p>
            <a:endParaRPr lang="en-IN" dirty="0"/>
          </a:p>
        </p:txBody>
      </p:sp>
      <p:sp>
        <p:nvSpPr>
          <p:cNvPr id="3" name="Content Placeholder 2">
            <a:extLst>
              <a:ext uri="{FF2B5EF4-FFF2-40B4-BE49-F238E27FC236}">
                <a16:creationId xmlns:a16="http://schemas.microsoft.com/office/drawing/2014/main" id="{920597B7-ED75-8809-AAFA-B73E53771550}"/>
              </a:ext>
            </a:extLst>
          </p:cNvPr>
          <p:cNvSpPr>
            <a:spLocks noGrp="1"/>
          </p:cNvSpPr>
          <p:nvPr>
            <p:ph idx="1"/>
          </p:nvPr>
        </p:nvSpPr>
        <p:spPr>
          <a:xfrm>
            <a:off x="600075" y="1200935"/>
            <a:ext cx="10515600" cy="5337977"/>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NGO &amp; Volunteer Management</a:t>
            </a:r>
          </a:p>
          <a:p>
            <a:r>
              <a:rPr lang="en-IN" sz="2000" dirty="0">
                <a:latin typeface="Times New Roman" panose="02020603050405020304" pitchFamily="18" charset="0"/>
                <a:cs typeface="Times New Roman" panose="02020603050405020304" pitchFamily="18" charset="0"/>
              </a:rPr>
              <a:t>NGO Registration </a:t>
            </a:r>
          </a:p>
          <a:p>
            <a:r>
              <a:rPr lang="en-IN" sz="2000" dirty="0">
                <a:latin typeface="Times New Roman" panose="02020603050405020304" pitchFamily="18" charset="0"/>
                <a:cs typeface="Times New Roman" panose="02020603050405020304" pitchFamily="18" charset="0"/>
              </a:rPr>
              <a:t>Volunteer Registration </a:t>
            </a:r>
          </a:p>
          <a:p>
            <a:r>
              <a:rPr lang="en-IN" sz="2000" dirty="0">
                <a:latin typeface="Times New Roman" panose="02020603050405020304" pitchFamily="18" charset="0"/>
                <a:cs typeface="Times New Roman" panose="02020603050405020304" pitchFamily="18" charset="0"/>
              </a:rPr>
              <a:t>Nearby Donation Identification </a:t>
            </a:r>
          </a:p>
          <a:p>
            <a:r>
              <a:rPr lang="en-IN" sz="2000" dirty="0">
                <a:latin typeface="Times New Roman" panose="02020603050405020304" pitchFamily="18" charset="0"/>
                <a:cs typeface="Times New Roman" panose="02020603050405020304" pitchFamily="18" charset="0"/>
              </a:rPr>
              <a:t>Collection Coordination </a:t>
            </a:r>
          </a:p>
          <a:p>
            <a:r>
              <a:rPr lang="en-IN" sz="2000" dirty="0">
                <a:latin typeface="Times New Roman" panose="02020603050405020304" pitchFamily="18" charset="0"/>
                <a:cs typeface="Times New Roman" panose="02020603050405020304" pitchFamily="18" charset="0"/>
              </a:rPr>
              <a:t>Distribution Management </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Surplus Food Listing &amp; Management</a:t>
            </a:r>
          </a:p>
          <a:p>
            <a:r>
              <a:rPr lang="en-IN" sz="2000" dirty="0">
                <a:latin typeface="Times New Roman" panose="02020603050405020304" pitchFamily="18" charset="0"/>
                <a:cs typeface="Times New Roman" panose="02020603050405020304" pitchFamily="18" charset="0"/>
              </a:rPr>
              <a:t>Create Food Listings </a:t>
            </a:r>
          </a:p>
          <a:p>
            <a:r>
              <a:rPr lang="en-IN" sz="2000" dirty="0">
                <a:latin typeface="Times New Roman" panose="02020603050405020304" pitchFamily="18" charset="0"/>
                <a:cs typeface="Times New Roman" panose="02020603050405020304" pitchFamily="18" charset="0"/>
              </a:rPr>
              <a:t>Update &amp; Delete Listings </a:t>
            </a:r>
          </a:p>
          <a:p>
            <a:r>
              <a:rPr lang="en-IN" sz="2000" dirty="0">
                <a:latin typeface="Times New Roman" panose="02020603050405020304" pitchFamily="18" charset="0"/>
                <a:cs typeface="Times New Roman" panose="02020603050405020304" pitchFamily="18" charset="0"/>
              </a:rPr>
              <a:t>Food Availability Tracking </a:t>
            </a:r>
          </a:p>
          <a:p>
            <a:r>
              <a:rPr lang="en-IN" sz="2000" dirty="0">
                <a:latin typeface="Times New Roman" panose="02020603050405020304" pitchFamily="18" charset="0"/>
                <a:cs typeface="Times New Roman" panose="02020603050405020304" pitchFamily="18" charset="0"/>
              </a:rPr>
              <a:t>Expiry/Time Monitoring </a:t>
            </a:r>
          </a:p>
          <a:p>
            <a:r>
              <a:rPr lang="en-IN" sz="2000" dirty="0">
                <a:latin typeface="Times New Roman" panose="02020603050405020304" pitchFamily="18" charset="0"/>
                <a:cs typeface="Times New Roman" panose="02020603050405020304" pitchFamily="18" charset="0"/>
              </a:rPr>
              <a:t>Donation Status Management</a:t>
            </a:r>
          </a:p>
          <a:p>
            <a:endParaRPr lang="en-IN" dirty="0"/>
          </a:p>
        </p:txBody>
      </p:sp>
      <p:sp>
        <p:nvSpPr>
          <p:cNvPr id="4" name="Date Placeholder 3">
            <a:extLst>
              <a:ext uri="{FF2B5EF4-FFF2-40B4-BE49-F238E27FC236}">
                <a16:creationId xmlns:a16="http://schemas.microsoft.com/office/drawing/2014/main" id="{6D4E74EB-A0A7-D585-937D-2850BCC11447}"/>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5039A91A-77CF-8A5D-FAA3-8FAF68EF3E1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256F750A-35A9-C362-1B30-734616339B8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11883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A3F150-BF2D-E8F6-6720-4A4088E02130}"/>
              </a:ext>
            </a:extLst>
          </p:cNvPr>
          <p:cNvSpPr>
            <a:spLocks noGrp="1"/>
          </p:cNvSpPr>
          <p:nvPr>
            <p:ph idx="1"/>
          </p:nvPr>
        </p:nvSpPr>
        <p:spPr>
          <a:xfrm>
            <a:off x="781050" y="1253331"/>
            <a:ext cx="10515600" cy="4947444"/>
          </a:xfrm>
        </p:spPr>
        <p:txBody>
          <a:bodyPr>
            <a:normAutofit fontScale="92500" lnSpcReduction="20000"/>
          </a:bodyPr>
          <a:lstStyle/>
          <a:p>
            <a:pPr marL="0" indent="0">
              <a:buNone/>
            </a:pPr>
            <a:r>
              <a:rPr lang="en-US" sz="2400" b="1" dirty="0">
                <a:latin typeface="Times New Roman" panose="02020603050405020304" pitchFamily="18" charset="0"/>
                <a:cs typeface="Times New Roman" panose="02020603050405020304" pitchFamily="18" charset="0"/>
              </a:rPr>
              <a:t>Food Request &amp; Matching</a:t>
            </a:r>
          </a:p>
          <a:p>
            <a:r>
              <a:rPr lang="en-US" sz="2400" dirty="0">
                <a:latin typeface="Times New Roman" panose="02020603050405020304" pitchFamily="18" charset="0"/>
                <a:cs typeface="Times New Roman" panose="02020603050405020304" pitchFamily="18" charset="0"/>
              </a:rPr>
              <a:t>Food Requests </a:t>
            </a:r>
          </a:p>
          <a:p>
            <a:r>
              <a:rPr lang="en-US" sz="2400" dirty="0">
                <a:latin typeface="Times New Roman" panose="02020603050405020304" pitchFamily="18" charset="0"/>
                <a:cs typeface="Times New Roman" panose="02020603050405020304" pitchFamily="18" charset="0"/>
              </a:rPr>
              <a:t>Donor–NGO Matching </a:t>
            </a:r>
          </a:p>
          <a:p>
            <a:r>
              <a:rPr lang="en-US" sz="2400" dirty="0">
                <a:latin typeface="Times New Roman" panose="02020603050405020304" pitchFamily="18" charset="0"/>
                <a:cs typeface="Times New Roman" panose="02020603050405020304" pitchFamily="18" charset="0"/>
              </a:rPr>
              <a:t>Location-Based Matching </a:t>
            </a:r>
          </a:p>
          <a:p>
            <a:r>
              <a:rPr lang="en-US" sz="2400" dirty="0">
                <a:latin typeface="Times New Roman" panose="02020603050405020304" pitchFamily="18" charset="0"/>
                <a:cs typeface="Times New Roman" panose="02020603050405020304" pitchFamily="18" charset="0"/>
              </a:rPr>
              <a:t>Quantity-Based Matching </a:t>
            </a:r>
          </a:p>
          <a:p>
            <a:r>
              <a:rPr lang="en-US" sz="2400" dirty="0">
                <a:latin typeface="Times New Roman" panose="02020603050405020304" pitchFamily="18" charset="0"/>
                <a:cs typeface="Times New Roman" panose="02020603050405020304" pitchFamily="18" charset="0"/>
              </a:rPr>
              <a:t>Request Status Tracking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Collection &amp; Distribution Management</a:t>
            </a:r>
          </a:p>
          <a:p>
            <a:r>
              <a:rPr lang="en-US" sz="2400" dirty="0">
                <a:latin typeface="Times New Roman" panose="02020603050405020304" pitchFamily="18" charset="0"/>
                <a:cs typeface="Times New Roman" panose="02020603050405020304" pitchFamily="18" charset="0"/>
              </a:rPr>
              <a:t>Pickup Scheduling </a:t>
            </a:r>
          </a:p>
          <a:p>
            <a:r>
              <a:rPr lang="en-US" sz="2400" dirty="0">
                <a:latin typeface="Times New Roman" panose="02020603050405020304" pitchFamily="18" charset="0"/>
                <a:cs typeface="Times New Roman" panose="02020603050405020304" pitchFamily="18" charset="0"/>
              </a:rPr>
              <a:t>Volunteer Assignment </a:t>
            </a:r>
          </a:p>
          <a:p>
            <a:r>
              <a:rPr lang="en-US" sz="2400" dirty="0">
                <a:latin typeface="Times New Roman" panose="02020603050405020304" pitchFamily="18" charset="0"/>
                <a:cs typeface="Times New Roman" panose="02020603050405020304" pitchFamily="18" charset="0"/>
              </a:rPr>
              <a:t>Collection Tracking </a:t>
            </a:r>
          </a:p>
          <a:p>
            <a:r>
              <a:rPr lang="en-US" sz="2400" dirty="0">
                <a:latin typeface="Times New Roman" panose="02020603050405020304" pitchFamily="18" charset="0"/>
                <a:cs typeface="Times New Roman" panose="02020603050405020304" pitchFamily="18" charset="0"/>
              </a:rPr>
              <a:t>Food Distribution </a:t>
            </a:r>
          </a:p>
          <a:p>
            <a:r>
              <a:rPr lang="en-US" sz="2400" dirty="0">
                <a:latin typeface="Times New Roman" panose="02020603050405020304" pitchFamily="18" charset="0"/>
                <a:cs typeface="Times New Roman" panose="02020603050405020304" pitchFamily="18" charset="0"/>
              </a:rPr>
              <a:t>Delivery Status Updates</a:t>
            </a:r>
          </a:p>
          <a:p>
            <a:endParaRPr lang="en-IN" dirty="0"/>
          </a:p>
        </p:txBody>
      </p:sp>
      <p:sp>
        <p:nvSpPr>
          <p:cNvPr id="4" name="Date Placeholder 3">
            <a:extLst>
              <a:ext uri="{FF2B5EF4-FFF2-40B4-BE49-F238E27FC236}">
                <a16:creationId xmlns:a16="http://schemas.microsoft.com/office/drawing/2014/main" id="{7C506302-00EC-7215-69CD-8325B93736C4}"/>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DD8DA1B4-F9D8-25CD-858B-DCC5D681505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6152F186-9808-BF90-175A-8D076972E136}"/>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2847232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normAutofit fontScale="55000" lnSpcReduction="20000"/>
          </a:bodyPr>
          <a:lstStyle/>
          <a:p>
            <a:pPr marL="0" indent="0">
              <a:buNone/>
            </a:pPr>
            <a:r>
              <a:rPr lang="en-IN" b="1" dirty="0">
                <a:latin typeface="Bahnschrift Light" panose="020B0502040204020203" pitchFamily="34" charset="0"/>
                <a:cs typeface="Arial" panose="020B0604020202020204" pitchFamily="34" charset="0"/>
              </a:rPr>
              <a:t>Hardware Requirements</a:t>
            </a:r>
          </a:p>
          <a:p>
            <a:pPr marL="0" indent="0">
              <a:buNone/>
            </a:pPr>
            <a:endParaRPr lang="en-IN" b="1" dirty="0">
              <a:latin typeface="Bahnschrift Light" panose="020B0502040204020203" pitchFamily="34" charset="0"/>
              <a:cs typeface="Arial" panose="020B0604020202020204" pitchFamily="34" charset="0"/>
            </a:endParaRPr>
          </a:p>
          <a:p>
            <a:r>
              <a:rPr lang="en-IN" b="1" dirty="0">
                <a:latin typeface="Bahnschrift Light" panose="020B0502040204020203" pitchFamily="34" charset="0"/>
              </a:rPr>
              <a:t>Processor:</a:t>
            </a:r>
            <a:r>
              <a:rPr lang="en-IN" dirty="0">
                <a:latin typeface="Bahnschrift Light" panose="020B0502040204020203" pitchFamily="34" charset="0"/>
              </a:rPr>
              <a:t> Intel Core i3 or above </a:t>
            </a:r>
          </a:p>
          <a:p>
            <a:r>
              <a:rPr lang="en-IN" b="1" dirty="0">
                <a:latin typeface="Bahnschrift Light" panose="020B0502040204020203" pitchFamily="34" charset="0"/>
              </a:rPr>
              <a:t>RAM:</a:t>
            </a:r>
            <a:r>
              <a:rPr lang="en-IN" dirty="0">
                <a:latin typeface="Bahnschrift Light" panose="020B0502040204020203" pitchFamily="34" charset="0"/>
              </a:rPr>
              <a:t> 4 GB minimum </a:t>
            </a:r>
          </a:p>
          <a:p>
            <a:r>
              <a:rPr lang="en-IN" b="1" dirty="0">
                <a:latin typeface="Bahnschrift Light" panose="020B0502040204020203" pitchFamily="34" charset="0"/>
              </a:rPr>
              <a:t>Storage:</a:t>
            </a:r>
            <a:r>
              <a:rPr lang="en-IN" dirty="0">
                <a:latin typeface="Bahnschrift Light" panose="020B0502040204020203" pitchFamily="34" charset="0"/>
              </a:rPr>
              <a:t> 10 GB available space </a:t>
            </a:r>
          </a:p>
          <a:p>
            <a:r>
              <a:rPr lang="en-IN" b="1" dirty="0">
                <a:latin typeface="Bahnschrift Light" panose="020B0502040204020203" pitchFamily="34" charset="0"/>
              </a:rPr>
              <a:t>Internet:</a:t>
            </a:r>
            <a:r>
              <a:rPr lang="en-IN" dirty="0">
                <a:latin typeface="Bahnschrift Light" panose="020B0502040204020203" pitchFamily="34" charset="0"/>
              </a:rPr>
              <a:t> Required for database and application access </a:t>
            </a:r>
          </a:p>
          <a:p>
            <a:pPr marL="0" indent="0">
              <a:buNone/>
            </a:pPr>
            <a:r>
              <a:rPr lang="en-IN" b="1" dirty="0">
                <a:latin typeface="Bahnschrift Light" panose="020B0502040204020203" pitchFamily="34" charset="0"/>
              </a:rPr>
              <a:t>Software Requirements</a:t>
            </a:r>
          </a:p>
          <a:p>
            <a:pPr marL="0" indent="0">
              <a:buNone/>
            </a:pPr>
            <a:endParaRPr lang="en-IN" b="1" dirty="0">
              <a:latin typeface="Bahnschrift Light" panose="020B0502040204020203" pitchFamily="34" charset="0"/>
            </a:endParaRPr>
          </a:p>
          <a:p>
            <a:r>
              <a:rPr lang="en-IN" b="1" dirty="0">
                <a:latin typeface="Bahnschrift Light" panose="020B0502040204020203" pitchFamily="34" charset="0"/>
              </a:rPr>
              <a:t>Operating System:</a:t>
            </a:r>
            <a:r>
              <a:rPr lang="en-IN" dirty="0">
                <a:latin typeface="Bahnschrift Light" panose="020B0502040204020203" pitchFamily="34" charset="0"/>
              </a:rPr>
              <a:t> Windows / Linux </a:t>
            </a:r>
          </a:p>
          <a:p>
            <a:r>
              <a:rPr lang="en-IN" b="1" dirty="0">
                <a:latin typeface="Bahnschrift Light" panose="020B0502040204020203" pitchFamily="34" charset="0"/>
              </a:rPr>
              <a:t>Database:</a:t>
            </a:r>
            <a:r>
              <a:rPr lang="en-IN" dirty="0">
                <a:latin typeface="Bahnschrift Light" panose="020B0502040204020203" pitchFamily="34" charset="0"/>
              </a:rPr>
              <a:t> MySQL / PostgreSQL </a:t>
            </a:r>
          </a:p>
          <a:p>
            <a:r>
              <a:rPr lang="en-IN" b="1" dirty="0">
                <a:latin typeface="Bahnschrift Light" panose="020B0502040204020203" pitchFamily="34" charset="0"/>
              </a:rPr>
              <a:t>NoSQL Database:</a:t>
            </a:r>
            <a:r>
              <a:rPr lang="en-IN" dirty="0">
                <a:latin typeface="Bahnschrift Light" panose="020B0502040204020203" pitchFamily="34" charset="0"/>
              </a:rPr>
              <a:t> MongoDB </a:t>
            </a:r>
          </a:p>
          <a:p>
            <a:r>
              <a:rPr lang="en-IN" b="1" dirty="0">
                <a:latin typeface="Bahnschrift Light" panose="020B0502040204020203" pitchFamily="34" charset="0"/>
              </a:rPr>
              <a:t>Programming Language:</a:t>
            </a:r>
            <a:r>
              <a:rPr lang="en-IN" dirty="0">
                <a:latin typeface="Bahnschrift Light" panose="020B0502040204020203" pitchFamily="34" charset="0"/>
              </a:rPr>
              <a:t> SQL </a:t>
            </a:r>
          </a:p>
          <a:p>
            <a:r>
              <a:rPr lang="en-IN" b="1" dirty="0">
                <a:latin typeface="Bahnschrift Light" panose="020B0502040204020203" pitchFamily="34" charset="0"/>
              </a:rPr>
              <a:t>Development Tool:</a:t>
            </a:r>
            <a:r>
              <a:rPr lang="en-IN" dirty="0">
                <a:latin typeface="Bahnschrift Light" panose="020B0502040204020203" pitchFamily="34" charset="0"/>
              </a:rPr>
              <a:t> VS Code </a:t>
            </a:r>
          </a:p>
          <a:p>
            <a:r>
              <a:rPr lang="en-IN" b="1" dirty="0">
                <a:latin typeface="Bahnschrift Light" panose="020B0502040204020203" pitchFamily="34" charset="0"/>
              </a:rPr>
              <a:t>Database Tools:</a:t>
            </a:r>
            <a:r>
              <a:rPr lang="en-IN" dirty="0">
                <a:latin typeface="Bahnschrift Light" panose="020B0502040204020203" pitchFamily="34" charset="0"/>
              </a:rPr>
              <a:t> MySQL Workbench / MongoDB Compass </a:t>
            </a:r>
          </a:p>
          <a:p>
            <a:r>
              <a:rPr lang="en-IN" b="1" dirty="0">
                <a:latin typeface="Bahnschrift Light" panose="020B0502040204020203" pitchFamily="34" charset="0"/>
              </a:rPr>
              <a:t>Version Control:</a:t>
            </a:r>
            <a:r>
              <a:rPr lang="en-IN" dirty="0">
                <a:latin typeface="Bahnschrift Light" panose="020B0502040204020203" pitchFamily="34" charset="0"/>
              </a:rPr>
              <a:t> Git &amp; GitHub</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286569" y="368991"/>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13</a:t>
            </a:fld>
            <a:endParaRPr lang="en-US" dirty="0"/>
          </a:p>
        </p:txBody>
      </p:sp>
      <p:sp>
        <p:nvSpPr>
          <p:cNvPr id="6" name="TextBox 5">
            <a:extLst>
              <a:ext uri="{FF2B5EF4-FFF2-40B4-BE49-F238E27FC236}">
                <a16:creationId xmlns:a16="http://schemas.microsoft.com/office/drawing/2014/main" id="{7BAA4613-7EE6-C095-302F-C713C048224C}"/>
              </a:ext>
            </a:extLst>
          </p:cNvPr>
          <p:cNvSpPr txBox="1"/>
          <p:nvPr/>
        </p:nvSpPr>
        <p:spPr>
          <a:xfrm>
            <a:off x="1171575" y="1257300"/>
            <a:ext cx="7972425" cy="2308324"/>
          </a:xfrm>
          <a:prstGeom prst="rect">
            <a:avLst/>
          </a:prstGeom>
          <a:noFill/>
        </p:spPr>
        <p:txBody>
          <a:bodyPr wrap="square">
            <a:spAutoFit/>
          </a:bodyPr>
          <a:lstStyle/>
          <a:p>
            <a:r>
              <a:rPr lang="en-US" dirty="0">
                <a:latin typeface="Arial Rounded MT Bold" panose="020F0704030504030204" pitchFamily="34" charset="0"/>
              </a:rPr>
              <a:t>Conclusion:</a:t>
            </a:r>
          </a:p>
          <a:p>
            <a:endParaRPr lang="en-US" dirty="0">
              <a:latin typeface="Arial Rounded MT Bold" panose="020F0704030504030204" pitchFamily="34" charset="0"/>
            </a:endParaRPr>
          </a:p>
          <a:p>
            <a:r>
              <a:rPr lang="en-US" dirty="0">
                <a:latin typeface="Bahnschrift Light" panose="020B0502040204020203" pitchFamily="34" charset="0"/>
              </a:rPr>
              <a:t>The Food Surplus Redistribution System is a DBMS-based solution that helps manage surplus food donations and connects donors, NGOs, volunteers and beneficiaries. By using ER modelling, normalization, SQL and MongoDB concepts, the system provides organized and reliable management of donation data. It aims to reduce food wastage and improve the efficiency of surplus food distribution</a:t>
            </a:r>
            <a:r>
              <a:rPr lang="en-US" dirty="0"/>
              <a:t>.</a:t>
            </a:r>
            <a:endParaRPr lang="en-IN" dirty="0"/>
          </a:p>
        </p:txBody>
      </p:sp>
      <p:sp>
        <p:nvSpPr>
          <p:cNvPr id="8" name="TextBox 7">
            <a:extLst>
              <a:ext uri="{FF2B5EF4-FFF2-40B4-BE49-F238E27FC236}">
                <a16:creationId xmlns:a16="http://schemas.microsoft.com/office/drawing/2014/main" id="{637EEE0A-2577-1C51-DDD8-A74C1C416F5F}"/>
              </a:ext>
            </a:extLst>
          </p:cNvPr>
          <p:cNvSpPr txBox="1"/>
          <p:nvPr/>
        </p:nvSpPr>
        <p:spPr>
          <a:xfrm>
            <a:off x="1171575" y="3781425"/>
            <a:ext cx="7972425" cy="2031325"/>
          </a:xfrm>
          <a:prstGeom prst="rect">
            <a:avLst/>
          </a:prstGeom>
          <a:noFill/>
        </p:spPr>
        <p:txBody>
          <a:bodyPr wrap="square">
            <a:spAutoFit/>
          </a:bodyPr>
          <a:lstStyle/>
          <a:p>
            <a:r>
              <a:rPr lang="en-US" dirty="0">
                <a:latin typeface="Arial Rounded MT Bold" panose="020F0704030504030204" pitchFamily="34" charset="0"/>
              </a:rPr>
              <a:t>Future Scope:</a:t>
            </a:r>
          </a:p>
          <a:p>
            <a:endParaRPr lang="en-US" dirty="0">
              <a:latin typeface="Arial Rounded MT Bold" panose="020F0704030504030204" pitchFamily="34" charset="0"/>
            </a:endParaRPr>
          </a:p>
          <a:p>
            <a:r>
              <a:rPr lang="en-US" dirty="0">
                <a:latin typeface="Bahnschrift Light" panose="020B0502040204020203" pitchFamily="34" charset="0"/>
              </a:rPr>
              <a:t>The system can be further enhanced by developing a web or mobile application with real-time notifications, pickup tracking and secure user authentication. Future versions can also integrate APIs, data analytics and machine learning to predict food demand and improve distribution. The system can eventually be deployed on the cloud for large-scale usage.</a:t>
            </a:r>
            <a:endParaRPr lang="en-IN" dirty="0">
              <a:latin typeface="Bahnschrift Light" panose="020B0502040204020203" pitchFamily="34" charset="0"/>
            </a:endParaRPr>
          </a:p>
        </p:txBody>
      </p:sp>
    </p:spTree>
    <p:extLst>
      <p:ext uri="{BB962C8B-B14F-4D97-AF65-F5344CB8AC3E}">
        <p14:creationId xmlns:p14="http://schemas.microsoft.com/office/powerpoint/2010/main" val="174900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21405650" y="740780"/>
            <a:ext cx="13275945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2" name="AutoShape 2" descr="Generated image: Elegant Thank You Card with Heart Flourish">
            <a:extLst>
              <a:ext uri="{FF2B5EF4-FFF2-40B4-BE49-F238E27FC236}">
                <a16:creationId xmlns:a16="http://schemas.microsoft.com/office/drawing/2014/main" id="{0E4C6E25-9944-C195-F2CA-FDA25451C6DD}"/>
              </a:ext>
            </a:extLst>
          </p:cNvPr>
          <p:cNvSpPr>
            <a:spLocks noChangeAspect="1" noChangeArrowheads="1"/>
          </p:cNvSpPr>
          <p:nvPr/>
        </p:nvSpPr>
        <p:spPr bwMode="auto">
          <a:xfrm>
            <a:off x="2400300" y="3276600"/>
            <a:ext cx="38481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Generated image: Elegant Thank You Card with Heart Flourish">
            <a:extLst>
              <a:ext uri="{FF2B5EF4-FFF2-40B4-BE49-F238E27FC236}">
                <a16:creationId xmlns:a16="http://schemas.microsoft.com/office/drawing/2014/main" id="{AD060A4E-12DF-44B8-F01A-38D62D213FB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7193C7C8-96DF-E4E7-69DA-470D847FB6C8}"/>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8349</TotalTime>
  <Words>1115</Words>
  <Application>Microsoft Office PowerPoint</Application>
  <PresentationFormat>Widescreen</PresentationFormat>
  <Paragraphs>173</Paragraphs>
  <Slides>14</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Arial Rounded MT Bold</vt:lpstr>
      <vt:lpstr>Bahnschrift Light</vt:lpstr>
      <vt:lpstr>Bahnschrift Light SemiCondensed</vt:lpstr>
      <vt:lpstr>Calibri</vt:lpstr>
      <vt:lpstr>Calibri Light</vt:lpstr>
      <vt:lpstr>Times New Roman</vt:lpstr>
      <vt:lpstr>Office Theme</vt:lpstr>
      <vt:lpstr>Custom Design</vt:lpstr>
      <vt:lpstr> 1st  REVIEW Food Surplus Redistribution and Community Hunger Reduction Platform -Connecting Food Donors, NGOs, Volunteers and Beneficiaries Through Intelligent Distribution. </vt:lpstr>
      <vt:lpstr>GROUP NUMBER:18</vt:lpstr>
      <vt:lpstr>ABSTRACT</vt:lpstr>
      <vt:lpstr>INTRDOUCTION</vt:lpstr>
      <vt:lpstr>EXISTING SYSTEM</vt:lpstr>
      <vt:lpstr>PROBLEM</vt:lpstr>
      <vt:lpstr>SOLUTION(Contribution)</vt:lpstr>
      <vt:lpstr>Objectives </vt:lpstr>
      <vt:lpstr>Modules</vt:lpstr>
      <vt:lpstr>PowerPoint Presentation</vt:lpstr>
      <vt:lpstr>PowerPoint Presentation</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yamini katta</cp:lastModifiedBy>
  <cp:revision>96</cp:revision>
  <dcterms:created xsi:type="dcterms:W3CDTF">2022-05-20T10:20:31Z</dcterms:created>
  <dcterms:modified xsi:type="dcterms:W3CDTF">2026-08-27T03:20:27Z</dcterms:modified>
</cp:coreProperties>
</file>